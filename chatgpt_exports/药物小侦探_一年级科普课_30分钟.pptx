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72" r:id="rId23"/>
    <p:sldId id="258" r:id="rId9"/>
    <p:sldId id="273" r:id="rId24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74" r:id="rId25"/>
    <p:sldId id="267" r:id="rId18"/>
    <p:sldId id="268" r:id="rId19"/>
    <p:sldId id="275" r:id="rId26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1C3E5F"/>
                </a:solidFill>
                <a:latin typeface="Microsoft YaHei"/>
              </a:rPr>
              <a:t>药物小侦探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00200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16F67"/>
                </a:solidFill>
                <a:latin typeface="Microsoft YaHei"/>
              </a:rPr>
              <a:t>一颗小小的药，是怎样帮助身体的？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2743200"/>
            <a:ext cx="1920240" cy="777240"/>
          </a:xfrm>
          <a:prstGeom prst="roundRect">
            <a:avLst/>
          </a:prstGeom>
          <a:solidFill>
            <a:srgbClr val="4F95E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0" y="2743200"/>
            <a:ext cx="960120" cy="777240"/>
          </a:xfrm>
          <a:prstGeom prst="roundRect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0" y="2743200"/>
            <a:ext cx="480060" cy="777240"/>
          </a:xfrm>
          <a:prstGeom prst="rect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0" y="2926080"/>
            <a:ext cx="73152" cy="73152"/>
          </a:xfrm>
          <a:prstGeom prst="ellipse">
            <a:avLst/>
          </a:prstGeom>
          <a:solidFill>
            <a:srgbClr val="23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15000" y="2926080"/>
            <a:ext cx="73152" cy="73152"/>
          </a:xfrm>
          <a:prstGeom prst="ellipse">
            <a:avLst/>
          </a:prstGeom>
          <a:solidFill>
            <a:srgbClr val="23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5513831" y="2999232"/>
            <a:ext cx="274320" cy="164592"/>
          </a:xfrm>
          <a:prstGeom prst="arc">
            <a:avLst/>
          </a:prstGeom>
          <a:noFill/>
          <a:ln w="19050">
            <a:solidFill>
              <a:srgbClr val="23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67528" y="2816352"/>
            <a:ext cx="256032" cy="256032"/>
          </a:xfrm>
          <a:prstGeom prst="ellipse">
            <a:avLst/>
          </a:prstGeom>
          <a:solidFill>
            <a:srgbClr val="FFFFFF"/>
          </a:solidFill>
          <a:ln>
            <a:solidFill>
              <a:srgbClr val="1C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78424" y="2816352"/>
            <a:ext cx="256032" cy="256032"/>
          </a:xfrm>
          <a:prstGeom prst="ellipse">
            <a:avLst/>
          </a:prstGeom>
          <a:solidFill>
            <a:srgbClr val="FFFFFF"/>
          </a:solidFill>
          <a:ln>
            <a:solidFill>
              <a:srgbClr val="1C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3456432"/>
            <a:ext cx="73152" cy="320040"/>
          </a:xfrm>
          <a:prstGeom prst="rect">
            <a:avLst/>
          </a:prstGeom>
          <a:solidFill>
            <a:srgbClr val="1C3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3456432"/>
            <a:ext cx="73152" cy="320040"/>
          </a:xfrm>
          <a:prstGeom prst="rect">
            <a:avLst/>
          </a:prstGeom>
          <a:solidFill>
            <a:srgbClr val="1C3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28800" y="2971800"/>
            <a:ext cx="640080" cy="640080"/>
          </a:xfrm>
          <a:prstGeom prst="ellipse">
            <a:avLst/>
          </a:prstGeom>
          <a:solidFill>
            <a:srgbClr val="47B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38528" y="29809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?</a:t>
            </a:r>
          </a:p>
        </p:txBody>
      </p:sp>
      <p:sp>
        <p:nvSpPr>
          <p:cNvPr id="17" name="Oval 16"/>
          <p:cNvSpPr/>
          <p:nvPr/>
        </p:nvSpPr>
        <p:spPr>
          <a:xfrm>
            <a:off x="2971800" y="2971800"/>
            <a:ext cx="640080" cy="640080"/>
          </a:xfrm>
          <a:prstGeom prst="ellipse">
            <a:avLst/>
          </a:prstGeom>
          <a:solidFill>
            <a:srgbClr val="FCC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81528" y="29809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?</a:t>
            </a:r>
          </a:p>
        </p:txBody>
      </p:sp>
      <p:sp>
        <p:nvSpPr>
          <p:cNvPr id="19" name="Oval 18"/>
          <p:cNvSpPr/>
          <p:nvPr/>
        </p:nvSpPr>
        <p:spPr>
          <a:xfrm>
            <a:off x="7863840" y="2971800"/>
            <a:ext cx="640080" cy="640080"/>
          </a:xfrm>
          <a:prstGeom prst="ellipse">
            <a:avLst/>
          </a:prstGeom>
          <a:solidFill>
            <a:srgbClr val="8B6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73567" y="29809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?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0" y="2971800"/>
            <a:ext cx="640080" cy="640080"/>
          </a:xfrm>
          <a:prstGeom prst="ellipse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29809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40" y="4251960"/>
            <a:ext cx="649224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9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3240" y="4407408"/>
            <a:ext cx="6035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3E5F"/>
                </a:solidFill>
                <a:latin typeface="Microsoft YaHei"/>
              </a:rPr>
              <a:t>今天我们一起破案：药物为什么能帮助身体？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1371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57482"/>
                </a:solidFill>
                <a:latin typeface="Microsoft YaHei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9880" y="137160"/>
            <a:ext cx="777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57482"/>
                </a:solidFill>
                <a:latin typeface="Microsoft YaHei"/>
              </a:rPr>
              <a:t>约 1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C3E5F"/>
                </a:solidFill>
                <a:latin typeface="Microsoft YaHei"/>
              </a:rPr>
              <a:t>你见过哪些“药物小伙伴”？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00400" cy="1417320"/>
          </a:xfrm>
          <a:prstGeom prst="roundRect">
            <a:avLst/>
          </a:prstGeom>
          <a:solidFill>
            <a:srgbClr val="F4FFFF"/>
          </a:solidFill>
          <a:ln w="15240">
            <a:solidFill>
              <a:srgbClr val="4F9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25880" y="1920240"/>
            <a:ext cx="594360" cy="594360"/>
          </a:xfrm>
          <a:prstGeom prst="ellipse">
            <a:avLst/>
          </a:prstGeom>
          <a:solidFill>
            <a:srgbClr val="4F9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4600" y="1993391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3E5F"/>
                </a:solidFill>
                <a:latin typeface="Microsoft YaHei"/>
              </a:rPr>
              <a:t>药片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554480"/>
            <a:ext cx="32004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16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83479" y="1938528"/>
            <a:ext cx="1234440" cy="502920"/>
          </a:xfrm>
          <a:prstGeom prst="roundRect">
            <a:avLst/>
          </a:prstGeom>
          <a:solidFill>
            <a:srgbClr val="4F95E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00699" y="1938528"/>
            <a:ext cx="617220" cy="502920"/>
          </a:xfrm>
          <a:prstGeom prst="roundRect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00699" y="1938528"/>
            <a:ext cx="308610" cy="502920"/>
          </a:xfrm>
          <a:prstGeom prst="rect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993391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3E5F"/>
                </a:solidFill>
                <a:latin typeface="Microsoft YaHei"/>
              </a:rPr>
              <a:t>胶囊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54480"/>
            <a:ext cx="3200400" cy="1417320"/>
          </a:xfrm>
          <a:prstGeom prst="roundRect">
            <a:avLst/>
          </a:prstGeom>
          <a:solidFill>
            <a:srgbClr val="ECFFFF"/>
          </a:solidFill>
          <a:ln w="15240">
            <a:solidFill>
              <a:srgbClr val="47B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69680" y="1874519"/>
            <a:ext cx="594360" cy="777240"/>
          </a:xfrm>
          <a:prstGeom prst="roundRect">
            <a:avLst/>
          </a:prstGeom>
          <a:solidFill>
            <a:srgbClr val="47B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79408" y="1737360"/>
            <a:ext cx="365760" cy="164592"/>
          </a:xfrm>
          <a:prstGeom prst="rect">
            <a:avLst/>
          </a:prstGeom>
          <a:solidFill>
            <a:srgbClr val="1C3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1993391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3E5F"/>
                </a:solidFill>
                <a:latin typeface="Microsoft YaHei"/>
              </a:rPr>
              <a:t>药水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39"/>
            <a:ext cx="32004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6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3840479"/>
            <a:ext cx="502920" cy="731520"/>
          </a:xfrm>
          <a:prstGeom prst="rect">
            <a:avLst/>
          </a:prstGeom>
          <a:solidFill>
            <a:srgbClr val="8B6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3840479"/>
            <a:ext cx="731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1C3E5F"/>
                </a:solidFill>
                <a:latin typeface="Microsoft YaHei"/>
              </a:rPr>
              <a:t>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959352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3E5F"/>
                </a:solidFill>
                <a:latin typeface="Microsoft YaHei"/>
              </a:rPr>
              <a:t>喷雾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3520439"/>
            <a:ext cx="3200400" cy="1417320"/>
          </a:xfrm>
          <a:prstGeom prst="roundRect">
            <a:avLst/>
          </a:prstGeom>
          <a:solidFill>
            <a:srgbClr val="FFFFEE"/>
          </a:solidFill>
          <a:ln w="15240">
            <a:solidFill>
              <a:srgbClr val="FCC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5400000">
            <a:off x="4983479" y="3840479"/>
            <a:ext cx="822960" cy="731520"/>
          </a:xfrm>
          <a:prstGeom prst="triangle">
            <a:avLst/>
          </a:prstGeom>
          <a:solidFill>
            <a:srgbClr val="FCC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959352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3E5F"/>
                </a:solidFill>
                <a:latin typeface="Microsoft YaHei"/>
              </a:rPr>
              <a:t>药膏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520439"/>
            <a:ext cx="3200400" cy="1417320"/>
          </a:xfrm>
          <a:prstGeom prst="roundRect">
            <a:avLst/>
          </a:prstGeom>
          <a:solidFill>
            <a:srgbClr val="F1FFFF"/>
          </a:solidFill>
          <a:ln w="15240">
            <a:solidFill>
              <a:srgbClr val="4C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32520" y="3931920"/>
            <a:ext cx="1005840" cy="502920"/>
          </a:xfrm>
          <a:prstGeom prst="roundRect">
            <a:avLst/>
          </a:prstGeom>
          <a:solidFill>
            <a:srgbClr val="4CBEC8"/>
          </a:solidFill>
          <a:ln w="15240">
            <a:solidFill>
              <a:srgbClr val="4C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12680" y="3959352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3E5F"/>
                </a:solidFill>
                <a:latin typeface="Microsoft YaHei"/>
              </a:rPr>
              <a:t>贴剂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6153912"/>
            <a:ext cx="10972800" cy="457200"/>
          </a:xfrm>
          <a:prstGeom prst="roundRect">
            <a:avLst/>
          </a:prstGeom>
          <a:solidFill>
            <a:srgbClr val="FFF9EB"/>
          </a:solidFill>
          <a:ln w="15240">
            <a:solidFill>
              <a:srgbClr val="FCC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199632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C3E5F"/>
                </a:solidFill>
                <a:latin typeface="Microsoft YaHei"/>
              </a:rPr>
              <a:t>🎤 互动：举手说一说：你见过哪一种？哪一种不用吞下去？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4280" y="1371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57482"/>
                </a:solidFill>
                <a:latin typeface="Microsoft YaHe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69880" y="137160"/>
            <a:ext cx="777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57482"/>
                </a:solidFill>
                <a:latin typeface="Microsoft YaHei"/>
              </a:rPr>
              <a:t>约 2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C3E5F"/>
                </a:solidFill>
                <a:latin typeface="Microsoft YaHei"/>
              </a:rPr>
              <a:t>我们的身体，是一座超级城市！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0" y="1371600"/>
            <a:ext cx="4297680" cy="4297680"/>
          </a:xfrm>
          <a:prstGeom prst="roundRect">
            <a:avLst/>
          </a:prstGeom>
          <a:solidFill>
            <a:srgbClr val="FFEEE1"/>
          </a:solidFill>
          <a:ln w="15240">
            <a:solidFill>
              <a:srgbClr val="F16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0" y="868680"/>
            <a:ext cx="1097280" cy="1097280"/>
          </a:xfrm>
          <a:prstGeom prst="ellipse">
            <a:avLst/>
          </a:prstGeom>
          <a:solidFill>
            <a:srgbClr val="FFE0CD"/>
          </a:solidFill>
          <a:ln>
            <a:solidFill>
              <a:srgbClr val="F16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663440" y="2011680"/>
            <a:ext cx="640080" cy="640080"/>
          </a:xfrm>
          <a:prstGeom prst="ellipse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36592" y="20116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❤</a:t>
            </a:r>
          </a:p>
        </p:txBody>
      </p:sp>
      <p:sp>
        <p:nvSpPr>
          <p:cNvPr id="8" name="Oval 7"/>
          <p:cNvSpPr/>
          <p:nvPr/>
        </p:nvSpPr>
        <p:spPr>
          <a:xfrm>
            <a:off x="6035040" y="1920240"/>
            <a:ext cx="685800" cy="685800"/>
          </a:xfrm>
          <a:prstGeom prst="ellipse">
            <a:avLst/>
          </a:prstGeom>
          <a:solidFill>
            <a:srgbClr val="E1F2FF"/>
          </a:solidFill>
          <a:ln>
            <a:solidFill>
              <a:srgbClr val="4F9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20840" y="1920240"/>
            <a:ext cx="685800" cy="685800"/>
          </a:xfrm>
          <a:prstGeom prst="ellipse">
            <a:avLst/>
          </a:prstGeom>
          <a:solidFill>
            <a:srgbClr val="E1F2FF"/>
          </a:solidFill>
          <a:ln>
            <a:solidFill>
              <a:srgbClr val="4F9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74920" y="3337560"/>
            <a:ext cx="2194560" cy="1234440"/>
          </a:xfrm>
          <a:prstGeom prst="roundRect">
            <a:avLst/>
          </a:prstGeom>
          <a:solidFill>
            <a:srgbClr val="E0F7EC"/>
          </a:solidFill>
          <a:ln w="15240">
            <a:solidFill>
              <a:srgbClr val="47B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3520440"/>
            <a:ext cx="1554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47B17A"/>
                </a:solidFill>
                <a:latin typeface="Microsoft YaHei"/>
              </a:rPr>
              <a:t>肠道\n营养工厂</a:t>
            </a:r>
          </a:p>
        </p:txBody>
      </p:sp>
      <p:sp>
        <p:nvSpPr>
          <p:cNvPr id="12" name="Oval 11"/>
          <p:cNvSpPr/>
          <p:nvPr/>
        </p:nvSpPr>
        <p:spPr>
          <a:xfrm>
            <a:off x="4297680" y="4800600"/>
            <a:ext cx="438912" cy="438912"/>
          </a:xfrm>
          <a:prstGeom prst="ellipse">
            <a:avLst/>
          </a:prstGeom>
          <a:solidFill>
            <a:srgbClr val="EFE9FF"/>
          </a:solidFill>
          <a:ln>
            <a:solidFill>
              <a:srgbClr val="8B6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92040" y="4800600"/>
            <a:ext cx="438912" cy="438912"/>
          </a:xfrm>
          <a:prstGeom prst="ellipse">
            <a:avLst/>
          </a:prstGeom>
          <a:solidFill>
            <a:srgbClr val="EFE9FF"/>
          </a:solidFill>
          <a:ln>
            <a:solidFill>
              <a:srgbClr val="8B6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86400" y="4800600"/>
            <a:ext cx="438912" cy="438912"/>
          </a:xfrm>
          <a:prstGeom prst="ellipse">
            <a:avLst/>
          </a:prstGeom>
          <a:solidFill>
            <a:srgbClr val="EFE9FF"/>
          </a:solidFill>
          <a:ln>
            <a:solidFill>
              <a:srgbClr val="8B6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5285232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8B6FD7"/>
                </a:solidFill>
                <a:latin typeface="Microsoft YaHei"/>
              </a:rPr>
              <a:t>免疫小警察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1645920"/>
            <a:ext cx="2560320" cy="914400"/>
          </a:xfrm>
          <a:prstGeom prst="roundRect">
            <a:avLst/>
          </a:prstGeom>
          <a:solidFill>
            <a:srgbClr val="FFE1E6"/>
          </a:solidFill>
          <a:ln w="15240">
            <a:solidFill>
              <a:srgbClr val="F16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856231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16F67"/>
                </a:solidFill>
                <a:latin typeface="Microsoft YaHei"/>
              </a:rPr>
              <a:t>心脏＝泵站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645920"/>
            <a:ext cx="2560320" cy="914400"/>
          </a:xfrm>
          <a:prstGeom prst="roundRect">
            <a:avLst/>
          </a:prstGeom>
          <a:solidFill>
            <a:srgbClr val="E1F2FF"/>
          </a:solidFill>
          <a:ln w="15240">
            <a:solidFill>
              <a:srgbClr val="4F9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856231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4F95E6"/>
                </a:solidFill>
                <a:latin typeface="Microsoft YaHei"/>
              </a:rPr>
              <a:t>肺＝空气站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703320"/>
            <a:ext cx="2560320" cy="914400"/>
          </a:xfrm>
          <a:prstGeom prst="roundRect">
            <a:avLst/>
          </a:prstGeom>
          <a:solidFill>
            <a:srgbClr val="E0F7EC"/>
          </a:solidFill>
          <a:ln w="15240">
            <a:solidFill>
              <a:srgbClr val="47B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913632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47B17A"/>
                </a:solidFill>
                <a:latin typeface="Microsoft YaHei"/>
              </a:rPr>
              <a:t>肠道＝营养工厂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3703320"/>
            <a:ext cx="2560320" cy="914400"/>
          </a:xfrm>
          <a:prstGeom prst="roundRect">
            <a:avLst/>
          </a:prstGeom>
          <a:solidFill>
            <a:srgbClr val="EFE9FF"/>
          </a:solidFill>
          <a:ln w="15240">
            <a:solidFill>
              <a:srgbClr val="8B6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3913632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8B6FD7"/>
                </a:solidFill>
                <a:latin typeface="Microsoft YaHei"/>
              </a:rPr>
              <a:t>免疫＝警察局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6153912"/>
            <a:ext cx="10972800" cy="457200"/>
          </a:xfrm>
          <a:prstGeom prst="roundRect">
            <a:avLst/>
          </a:prstGeom>
          <a:solidFill>
            <a:srgbClr val="FFF9EB"/>
          </a:solidFill>
          <a:ln w="15240">
            <a:solidFill>
              <a:srgbClr val="FCC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199632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C3E5F"/>
                </a:solidFill>
                <a:latin typeface="Microsoft YaHei"/>
              </a:rPr>
              <a:t>🎤 互动：我指一个器官，你们猜猜它在“身体城市”里做什么工作？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1371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57482"/>
                </a:solidFill>
                <a:latin typeface="Microsoft YaHe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69880" y="137160"/>
            <a:ext cx="777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57482"/>
                </a:solidFill>
                <a:latin typeface="Microsoft YaHei"/>
              </a:rPr>
              <a:t>约 2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C3E5F"/>
                </a:solidFill>
                <a:latin typeface="Microsoft YaHei"/>
              </a:rPr>
              <a:t>生病时，身体城市发生了什么？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297680"/>
          </a:xfrm>
          <a:prstGeom prst="roundRect">
            <a:avLst/>
          </a:prstGeom>
          <a:solidFill>
            <a:srgbClr val="E0F7EC"/>
          </a:solidFill>
          <a:ln w="15240">
            <a:solidFill>
              <a:srgbClr val="47B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72768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47B17A"/>
                </a:solidFill>
                <a:latin typeface="Microsoft YaHei"/>
              </a:rPr>
              <a:t>健康城市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560320"/>
            <a:ext cx="320040" cy="320040"/>
          </a:xfrm>
          <a:prstGeom prst="ellipse">
            <a:avLst/>
          </a:prstGeom>
          <a:solidFill>
            <a:srgbClr val="4F9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65960" y="2926079"/>
            <a:ext cx="320040" cy="320040"/>
          </a:xfrm>
          <a:prstGeom prst="ellipse">
            <a:avLst/>
          </a:prstGeom>
          <a:solidFill>
            <a:srgbClr val="47B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20" y="2560320"/>
            <a:ext cx="320040" cy="320040"/>
          </a:xfrm>
          <a:prstGeom prst="ellipse">
            <a:avLst/>
          </a:prstGeom>
          <a:solidFill>
            <a:srgbClr val="4F9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154680" y="2926079"/>
            <a:ext cx="320040" cy="320040"/>
          </a:xfrm>
          <a:prstGeom prst="ellipse">
            <a:avLst/>
          </a:prstGeom>
          <a:solidFill>
            <a:srgbClr val="47B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49039" y="2560320"/>
            <a:ext cx="320040" cy="320040"/>
          </a:xfrm>
          <a:prstGeom prst="ellipse">
            <a:avLst/>
          </a:prstGeom>
          <a:solidFill>
            <a:srgbClr val="4F9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43400" y="2926079"/>
            <a:ext cx="320040" cy="320040"/>
          </a:xfrm>
          <a:prstGeom prst="ellipse">
            <a:avLst/>
          </a:prstGeom>
          <a:solidFill>
            <a:srgbClr val="47B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794760"/>
            <a:ext cx="40233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32D3A"/>
                </a:solidFill>
                <a:latin typeface="Microsoft YaHei"/>
              </a:rPr>
              <a:t>✓ 秩序井然\n✓ 屏障完整\n✓ 免疫小警察巡逻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371600"/>
            <a:ext cx="5120640" cy="4297680"/>
          </a:xfrm>
          <a:prstGeom prst="roundRect">
            <a:avLst/>
          </a:prstGeom>
          <a:solidFill>
            <a:srgbClr val="FFE1E6"/>
          </a:solidFill>
          <a:ln w="15240">
            <a:solidFill>
              <a:srgbClr val="F16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572768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16F67"/>
                </a:solidFill>
                <a:latin typeface="Microsoft YaHei"/>
              </a:rPr>
              <a:t>生病城市</a:t>
            </a:r>
          </a:p>
        </p:txBody>
      </p:sp>
      <p:sp>
        <p:nvSpPr>
          <p:cNvPr id="15" name="Oval 14"/>
          <p:cNvSpPr/>
          <p:nvPr/>
        </p:nvSpPr>
        <p:spPr>
          <a:xfrm>
            <a:off x="6995160" y="2514600"/>
            <a:ext cx="292608" cy="292608"/>
          </a:xfrm>
          <a:prstGeom prst="ellipse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52360" y="2761488"/>
            <a:ext cx="292608" cy="292608"/>
          </a:xfrm>
          <a:prstGeom prst="ellipse">
            <a:avLst/>
          </a:prstGeom>
          <a:solidFill>
            <a:srgbClr val="8B6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09560" y="3008376"/>
            <a:ext cx="292608" cy="292608"/>
          </a:xfrm>
          <a:prstGeom prst="ellipse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66760" y="2514600"/>
            <a:ext cx="292608" cy="292608"/>
          </a:xfrm>
          <a:prstGeom prst="ellipse">
            <a:avLst/>
          </a:prstGeom>
          <a:solidFill>
            <a:srgbClr val="8B6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23960" y="2761488"/>
            <a:ext cx="292608" cy="292608"/>
          </a:xfrm>
          <a:prstGeom prst="ellipse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81160" y="3008376"/>
            <a:ext cx="292608" cy="292608"/>
          </a:xfrm>
          <a:prstGeom prst="ellipse">
            <a:avLst/>
          </a:prstGeom>
          <a:solidFill>
            <a:srgbClr val="8B6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38360" y="2514600"/>
            <a:ext cx="292608" cy="292608"/>
          </a:xfrm>
          <a:prstGeom prst="ellipse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95560" y="2761488"/>
            <a:ext cx="292608" cy="292608"/>
          </a:xfrm>
          <a:prstGeom prst="ellipse">
            <a:avLst/>
          </a:prstGeom>
          <a:solidFill>
            <a:srgbClr val="8B6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794760"/>
            <a:ext cx="411480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232D3A"/>
                </a:solidFill>
                <a:latin typeface="Microsoft YaHei"/>
              </a:rPr>
              <a:t>⚠ 病菌可能来捣乱\n⚠ 身体会发炎\n⚠ 有些功能会“出小故障”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6153912"/>
            <a:ext cx="10972800" cy="457200"/>
          </a:xfrm>
          <a:prstGeom prst="roundRect">
            <a:avLst/>
          </a:prstGeom>
          <a:solidFill>
            <a:srgbClr val="FFF9EB"/>
          </a:solidFill>
          <a:ln w="15240">
            <a:solidFill>
              <a:srgbClr val="FCC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199632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C3E5F"/>
                </a:solidFill>
                <a:latin typeface="Microsoft YaHei"/>
              </a:rPr>
              <a:t>🎤 互动：找不同：右边的身体城市，哪里和左边不一样？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1371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57482"/>
                </a:solidFill>
                <a:latin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69880" y="137160"/>
            <a:ext cx="777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57482"/>
                </a:solidFill>
                <a:latin typeface="Microsoft YaHei"/>
              </a:rPr>
              <a:t>约 2 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C3E5F"/>
                </a:solidFill>
                <a:latin typeface="Microsoft YaHei"/>
              </a:rPr>
              <a:t>药物不是魔法，是“有任务的小帮手”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194560"/>
            <a:ext cx="1920240" cy="777240"/>
          </a:xfrm>
          <a:prstGeom prst="roundRect">
            <a:avLst/>
          </a:prstGeom>
          <a:solidFill>
            <a:srgbClr val="4F95E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65960" y="2194560"/>
            <a:ext cx="960120" cy="777240"/>
          </a:xfrm>
          <a:prstGeom prst="roundRect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65960" y="2194560"/>
            <a:ext cx="480060" cy="777240"/>
          </a:xfrm>
          <a:prstGeom prst="rect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17320" y="2377440"/>
            <a:ext cx="73152" cy="73152"/>
          </a:xfrm>
          <a:prstGeom prst="ellipse">
            <a:avLst/>
          </a:prstGeom>
          <a:solidFill>
            <a:srgbClr val="23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20" y="2377440"/>
            <a:ext cx="73152" cy="73152"/>
          </a:xfrm>
          <a:prstGeom prst="ellipse">
            <a:avLst/>
          </a:prstGeom>
          <a:solidFill>
            <a:srgbClr val="23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1444752" y="2450591"/>
            <a:ext cx="274320" cy="164592"/>
          </a:xfrm>
          <a:prstGeom prst="arc">
            <a:avLst/>
          </a:prstGeom>
          <a:noFill/>
          <a:ln w="19050">
            <a:solidFill>
              <a:srgbClr val="23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98448" y="2267712"/>
            <a:ext cx="256032" cy="256032"/>
          </a:xfrm>
          <a:prstGeom prst="ellipse">
            <a:avLst/>
          </a:prstGeom>
          <a:solidFill>
            <a:srgbClr val="FFFFFF"/>
          </a:solidFill>
          <a:ln>
            <a:solidFill>
              <a:srgbClr val="1C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9344" y="2267712"/>
            <a:ext cx="256032" cy="256032"/>
          </a:xfrm>
          <a:prstGeom prst="ellipse">
            <a:avLst/>
          </a:prstGeom>
          <a:solidFill>
            <a:srgbClr val="FFFFFF"/>
          </a:solidFill>
          <a:ln>
            <a:solidFill>
              <a:srgbClr val="1C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17320" y="2907791"/>
            <a:ext cx="73152" cy="320040"/>
          </a:xfrm>
          <a:prstGeom prst="rect">
            <a:avLst/>
          </a:prstGeom>
          <a:solidFill>
            <a:srgbClr val="1C3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77440" y="2907791"/>
            <a:ext cx="73152" cy="320040"/>
          </a:xfrm>
          <a:prstGeom prst="rect">
            <a:avLst/>
          </a:prstGeom>
          <a:solidFill>
            <a:srgbClr val="1C3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0" y="1508760"/>
            <a:ext cx="722376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9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60520" y="1874519"/>
            <a:ext cx="502920" cy="502920"/>
          </a:xfrm>
          <a:prstGeom prst="ellipse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929384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1810512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16F67"/>
                </a:solidFill>
                <a:latin typeface="Microsoft YaHei"/>
              </a:rPr>
              <a:t>退烧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810512"/>
            <a:ext cx="4206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232D3A"/>
                </a:solidFill>
                <a:latin typeface="Microsoft YaHei"/>
              </a:rPr>
              <a:t>把太高的体温降下来</a:t>
            </a:r>
          </a:p>
        </p:txBody>
      </p:sp>
      <p:sp>
        <p:nvSpPr>
          <p:cNvPr id="19" name="Oval 18"/>
          <p:cNvSpPr/>
          <p:nvPr/>
        </p:nvSpPr>
        <p:spPr>
          <a:xfrm>
            <a:off x="4160520" y="2834639"/>
            <a:ext cx="502920" cy="502920"/>
          </a:xfrm>
          <a:prstGeom prst="ellipse">
            <a:avLst/>
          </a:prstGeom>
          <a:solidFill>
            <a:srgbClr val="8B6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2889504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770632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8B6FD7"/>
                </a:solidFill>
                <a:latin typeface="Microsoft YaHei"/>
              </a:rPr>
              <a:t>止痛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770632"/>
            <a:ext cx="4206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232D3A"/>
                </a:solidFill>
                <a:latin typeface="Microsoft YaHei"/>
              </a:rPr>
              <a:t>让疼痛信号变弱</a:t>
            </a:r>
          </a:p>
        </p:txBody>
      </p:sp>
      <p:sp>
        <p:nvSpPr>
          <p:cNvPr id="23" name="Oval 22"/>
          <p:cNvSpPr/>
          <p:nvPr/>
        </p:nvSpPr>
        <p:spPr>
          <a:xfrm>
            <a:off x="4160520" y="3794760"/>
            <a:ext cx="502920" cy="502920"/>
          </a:xfrm>
          <a:prstGeom prst="ellipse">
            <a:avLst/>
          </a:prstGeom>
          <a:solidFill>
            <a:srgbClr val="47B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3849624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3730752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47B17A"/>
                </a:solidFill>
                <a:latin typeface="Microsoft YaHei"/>
              </a:rPr>
              <a:t>抗感染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3730752"/>
            <a:ext cx="4206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232D3A"/>
                </a:solidFill>
                <a:latin typeface="Microsoft YaHei"/>
              </a:rPr>
              <a:t>帮助对付某些病原体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440680"/>
            <a:ext cx="6309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C3E5F"/>
                </a:solidFill>
                <a:latin typeface="Microsoft YaHei"/>
              </a:rPr>
              <a:t>不同药物，有不同任务。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4280" y="1371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57482"/>
                </a:solidFill>
                <a:latin typeface="Microsoft YaHe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69880" y="137160"/>
            <a:ext cx="777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57482"/>
                </a:solidFill>
                <a:latin typeface="Microsoft YaHei"/>
              </a:rPr>
              <a:t>约 2 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C3E5F"/>
                </a:solidFill>
                <a:latin typeface="Microsoft YaHei"/>
              </a:rPr>
              <a:t>为什么药物有这么多“外形”？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29000" cy="169164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4F9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19" y="1828800"/>
            <a:ext cx="594360" cy="594360"/>
          </a:xfrm>
          <a:prstGeom prst="ellipse">
            <a:avLst/>
          </a:prstGeom>
          <a:solidFill>
            <a:srgbClr val="4F9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1737360"/>
            <a:ext cx="1920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C3E5F"/>
                </a:solidFill>
                <a:latin typeface="Microsoft YaHei"/>
              </a:rPr>
              <a:t>药片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76272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657482"/>
                </a:solidFill>
                <a:latin typeface="Microsoft YaHei"/>
              </a:rPr>
              <a:t>方便携带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429000" cy="169164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F16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00600" y="1828800"/>
            <a:ext cx="594360" cy="594360"/>
          </a:xfrm>
          <a:prstGeom prst="ellipse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737360"/>
            <a:ext cx="1920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C3E5F"/>
                </a:solidFill>
                <a:latin typeface="Microsoft YaHei"/>
              </a:rPr>
              <a:t>胶囊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176272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657482"/>
                </a:solidFill>
                <a:latin typeface="Microsoft YaHei"/>
              </a:rPr>
              <a:t>保护里面的小药物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417320"/>
            <a:ext cx="3429000" cy="169164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47B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41080" y="1828800"/>
            <a:ext cx="594360" cy="594360"/>
          </a:xfrm>
          <a:prstGeom prst="ellipse">
            <a:avLst/>
          </a:prstGeom>
          <a:solidFill>
            <a:srgbClr val="47B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19" y="1737360"/>
            <a:ext cx="1920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C3E5F"/>
                </a:solidFill>
                <a:latin typeface="Microsoft YaHei"/>
              </a:rPr>
              <a:t>药水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19" y="2176272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657482"/>
                </a:solidFill>
                <a:latin typeface="Microsoft YaHei"/>
              </a:rPr>
              <a:t>有些小朋友更容易喝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3429000" cy="169164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8B6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19" y="4069080"/>
            <a:ext cx="594360" cy="594360"/>
          </a:xfrm>
          <a:prstGeom prst="ellipse">
            <a:avLst/>
          </a:prstGeom>
          <a:solidFill>
            <a:srgbClr val="8B6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3977639"/>
            <a:ext cx="1920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C3E5F"/>
                </a:solidFill>
                <a:latin typeface="Microsoft YaHei"/>
              </a:rPr>
              <a:t>喷雾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416552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657482"/>
                </a:solidFill>
                <a:latin typeface="Microsoft YaHei"/>
              </a:rPr>
              <a:t>直接到鼻子/喉咙等地方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657600"/>
            <a:ext cx="3429000" cy="169164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FCC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0600" y="4069080"/>
            <a:ext cx="594360" cy="594360"/>
          </a:xfrm>
          <a:prstGeom prst="ellipse">
            <a:avLst/>
          </a:prstGeom>
          <a:solidFill>
            <a:srgbClr val="FCC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3977639"/>
            <a:ext cx="1920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C3E5F"/>
                </a:solidFill>
                <a:latin typeface="Microsoft YaHei"/>
              </a:rPr>
              <a:t>药膏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4416552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657482"/>
                </a:solidFill>
                <a:latin typeface="Microsoft YaHei"/>
              </a:rPr>
              <a:t>涂在皮肤上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3657600"/>
            <a:ext cx="3429000" cy="169164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4C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41080" y="4069080"/>
            <a:ext cx="594360" cy="594360"/>
          </a:xfrm>
          <a:prstGeom prst="ellipse">
            <a:avLst/>
          </a:prstGeom>
          <a:solidFill>
            <a:srgbClr val="4C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19" y="3977639"/>
            <a:ext cx="1920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C3E5F"/>
                </a:solidFill>
                <a:latin typeface="Microsoft YaHei"/>
              </a:rPr>
              <a:t>贴剂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19" y="4416552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657482"/>
                </a:solidFill>
                <a:latin typeface="Microsoft YaHei"/>
              </a:rPr>
              <a:t>贴在皮肤上慢慢工作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6153912"/>
            <a:ext cx="10972800" cy="457200"/>
          </a:xfrm>
          <a:prstGeom prst="roundRect">
            <a:avLst/>
          </a:prstGeom>
          <a:solidFill>
            <a:srgbClr val="FFF9EB"/>
          </a:solidFill>
          <a:ln w="15240">
            <a:solidFill>
              <a:srgbClr val="FCC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199632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C3E5F"/>
                </a:solidFill>
                <a:latin typeface="Microsoft YaHei"/>
              </a:rPr>
              <a:t>🎤 互动：猜一猜：如果皮肤擦伤，哪一类药更可能“直接到现场”？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84280" y="1371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57482"/>
                </a:solidFill>
                <a:latin typeface="Microsoft YaHe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80" y="137160"/>
            <a:ext cx="777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57482"/>
                </a:solidFill>
                <a:latin typeface="Microsoft YaHei"/>
              </a:rPr>
              <a:t>约 2 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C3E5F"/>
                </a:solidFill>
                <a:latin typeface="Microsoft YaHei"/>
              </a:rPr>
              <a:t>一颗药去旅行：它会经过哪里？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2560320"/>
            <a:ext cx="1051560" cy="1051560"/>
          </a:xfrm>
          <a:prstGeom prst="ellipse">
            <a:avLst/>
          </a:prstGeom>
          <a:solidFill>
            <a:srgbClr val="4F9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688336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3703320"/>
            <a:ext cx="1508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3E5F"/>
                </a:solidFill>
                <a:latin typeface="Microsoft YaHei"/>
              </a:rPr>
              <a:t>嘴巴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828800" y="2852928"/>
            <a:ext cx="868680" cy="320040"/>
          </a:xfrm>
          <a:prstGeom prst="rightArrow">
            <a:avLst/>
          </a:prstGeom>
          <a:solidFill>
            <a:srgbClr val="65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880360" y="2560320"/>
            <a:ext cx="1051560" cy="1051560"/>
          </a:xfrm>
          <a:prstGeom prst="ellipse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82112" y="2688336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703320"/>
            <a:ext cx="1508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3E5F"/>
                </a:solidFill>
                <a:latin typeface="Microsoft YaHei"/>
              </a:rPr>
              <a:t>胃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69080" y="2852928"/>
            <a:ext cx="868680" cy="320040"/>
          </a:xfrm>
          <a:prstGeom prst="rightArrow">
            <a:avLst/>
          </a:prstGeom>
          <a:solidFill>
            <a:srgbClr val="65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20640" y="2560320"/>
            <a:ext cx="1051560" cy="1051560"/>
          </a:xfrm>
          <a:prstGeom prst="ellipse">
            <a:avLst/>
          </a:prstGeom>
          <a:solidFill>
            <a:srgbClr val="47B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2392" y="2688336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703320"/>
            <a:ext cx="1508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3E5F"/>
                </a:solidFill>
                <a:latin typeface="Microsoft YaHei"/>
              </a:rPr>
              <a:t>肠道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309360" y="2852928"/>
            <a:ext cx="868680" cy="320040"/>
          </a:xfrm>
          <a:prstGeom prst="rightArrow">
            <a:avLst/>
          </a:prstGeom>
          <a:solidFill>
            <a:srgbClr val="65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60920" y="2560320"/>
            <a:ext cx="1051560" cy="1051560"/>
          </a:xfrm>
          <a:prstGeom prst="ellipse">
            <a:avLst/>
          </a:prstGeom>
          <a:solidFill>
            <a:srgbClr val="8B6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62672" y="2688336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703320"/>
            <a:ext cx="1508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3E5F"/>
                </a:solidFill>
                <a:latin typeface="Microsoft YaHei"/>
              </a:rPr>
              <a:t>血液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549640" y="2852928"/>
            <a:ext cx="868680" cy="320040"/>
          </a:xfrm>
          <a:prstGeom prst="rightArrow">
            <a:avLst/>
          </a:prstGeom>
          <a:solidFill>
            <a:srgbClr val="65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0" y="2560320"/>
            <a:ext cx="1051560" cy="1051560"/>
          </a:xfrm>
          <a:prstGeom prst="ellipse">
            <a:avLst/>
          </a:prstGeom>
          <a:solidFill>
            <a:srgbClr val="FCC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02952" y="2688336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3703320"/>
            <a:ext cx="1508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3E5F"/>
                </a:solidFill>
                <a:latin typeface="Microsoft YaHei"/>
              </a:rPr>
              <a:t>目标地点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4663440"/>
            <a:ext cx="1920240" cy="777240"/>
          </a:xfrm>
          <a:prstGeom prst="roundRect">
            <a:avLst/>
          </a:prstGeom>
          <a:solidFill>
            <a:srgbClr val="4F95E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806440" y="4663440"/>
            <a:ext cx="960120" cy="777240"/>
          </a:xfrm>
          <a:prstGeom prst="roundRect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06440" y="4663440"/>
            <a:ext cx="480060" cy="777240"/>
          </a:xfrm>
          <a:prstGeom prst="rect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57800" y="4846320"/>
            <a:ext cx="73152" cy="73152"/>
          </a:xfrm>
          <a:prstGeom prst="ellipse">
            <a:avLst/>
          </a:prstGeom>
          <a:solidFill>
            <a:srgbClr val="23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86400" y="4846320"/>
            <a:ext cx="73152" cy="73152"/>
          </a:xfrm>
          <a:prstGeom prst="ellipse">
            <a:avLst/>
          </a:prstGeom>
          <a:solidFill>
            <a:srgbClr val="23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rc 27"/>
          <p:cNvSpPr/>
          <p:nvPr/>
        </p:nvSpPr>
        <p:spPr>
          <a:xfrm>
            <a:off x="5285231" y="4919472"/>
            <a:ext cx="274320" cy="164592"/>
          </a:xfrm>
          <a:prstGeom prst="arc">
            <a:avLst/>
          </a:prstGeom>
          <a:noFill/>
          <a:ln w="19050">
            <a:solidFill>
              <a:srgbClr val="23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38928" y="4736592"/>
            <a:ext cx="256032" cy="256032"/>
          </a:xfrm>
          <a:prstGeom prst="ellipse">
            <a:avLst/>
          </a:prstGeom>
          <a:solidFill>
            <a:srgbClr val="FFFFFF"/>
          </a:solidFill>
          <a:ln>
            <a:solidFill>
              <a:srgbClr val="1C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49824" y="4736592"/>
            <a:ext cx="256032" cy="256032"/>
          </a:xfrm>
          <a:prstGeom prst="ellipse">
            <a:avLst/>
          </a:prstGeom>
          <a:solidFill>
            <a:srgbClr val="FFFFFF"/>
          </a:solidFill>
          <a:ln>
            <a:solidFill>
              <a:srgbClr val="1C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57800" y="5376672"/>
            <a:ext cx="73152" cy="320040"/>
          </a:xfrm>
          <a:prstGeom prst="rect">
            <a:avLst/>
          </a:prstGeom>
          <a:solidFill>
            <a:srgbClr val="1C3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5376672"/>
            <a:ext cx="73152" cy="320040"/>
          </a:xfrm>
          <a:prstGeom prst="rect">
            <a:avLst/>
          </a:prstGeom>
          <a:solidFill>
            <a:srgbClr val="1C3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4800600"/>
            <a:ext cx="37490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16F67"/>
                </a:solidFill>
                <a:latin typeface="Microsoft YaHei"/>
              </a:rPr>
              <a:t>“我要找到我的任务地点！”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6153912"/>
            <a:ext cx="10972800" cy="457200"/>
          </a:xfrm>
          <a:prstGeom prst="roundRect">
            <a:avLst/>
          </a:prstGeom>
          <a:solidFill>
            <a:srgbClr val="FFF9EB"/>
          </a:solidFill>
          <a:ln w="15240">
            <a:solidFill>
              <a:srgbClr val="FCC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6199632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C3E5F"/>
                </a:solidFill>
                <a:latin typeface="Microsoft YaHei"/>
              </a:rPr>
              <a:t>🎤 互动：全班一起用手指沿着路线走一遍：嘴巴 → 胃 → 肠道 → 血液 → 目标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1371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57482"/>
                </a:solidFill>
                <a:latin typeface="Microsoft YaHei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69880" y="137160"/>
            <a:ext cx="777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57482"/>
                </a:solidFill>
                <a:latin typeface="Microsoft YaHei"/>
              </a:rPr>
              <a:t>约 2 min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C3E5F"/>
                </a:solidFill>
                <a:latin typeface="Microsoft YaHei"/>
              </a:rPr>
              <a:t>药物怎么找到“目标”？——钥匙和锁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3017520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4F9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755648"/>
            <a:ext cx="411480" cy="411480"/>
          </a:xfrm>
          <a:prstGeom prst="ellipse">
            <a:avLst/>
          </a:prstGeom>
          <a:solidFill>
            <a:srgbClr val="4F9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1901952"/>
            <a:ext cx="1051560" cy="109728"/>
          </a:xfrm>
          <a:prstGeom prst="rect">
            <a:avLst/>
          </a:prstGeom>
          <a:solidFill>
            <a:srgbClr val="4F9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737360"/>
            <a:ext cx="822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3E5F"/>
                </a:solidFill>
                <a:latin typeface="Microsoft YaHei"/>
              </a:rPr>
              <a:t>钥匙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34639"/>
            <a:ext cx="3017520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47B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3081528"/>
            <a:ext cx="411480" cy="411480"/>
          </a:xfrm>
          <a:prstGeom prst="ellipse">
            <a:avLst/>
          </a:prstGeom>
          <a:solidFill>
            <a:srgbClr val="47B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3227832"/>
            <a:ext cx="1051560" cy="109728"/>
          </a:xfrm>
          <a:prstGeom prst="rect">
            <a:avLst/>
          </a:prstGeom>
          <a:solidFill>
            <a:srgbClr val="47B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3063239"/>
            <a:ext cx="822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3E5F"/>
                </a:solidFill>
                <a:latin typeface="Microsoft YaHei"/>
              </a:rPr>
              <a:t>钥匙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60520"/>
            <a:ext cx="3017520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16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4407408"/>
            <a:ext cx="411480" cy="411480"/>
          </a:xfrm>
          <a:prstGeom prst="ellipse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63040" y="4553712"/>
            <a:ext cx="1051560" cy="109728"/>
          </a:xfrm>
          <a:prstGeom prst="rect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4389120"/>
            <a:ext cx="822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3E5F"/>
                </a:solidFill>
                <a:latin typeface="Microsoft YaHei"/>
              </a:rPr>
              <a:t>钥匙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508760"/>
            <a:ext cx="3017520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16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38160" y="1719072"/>
            <a:ext cx="502920" cy="502920"/>
          </a:xfrm>
          <a:prstGeom prst="ellipse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73736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3E5F"/>
                </a:solidFill>
                <a:latin typeface="Microsoft YaHei"/>
              </a:rPr>
              <a:t>小锁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2834639"/>
            <a:ext cx="3017520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4F9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8138160" y="3044952"/>
            <a:ext cx="502920" cy="502920"/>
          </a:xfrm>
          <a:prstGeom prst="triangle">
            <a:avLst/>
          </a:prstGeom>
          <a:solidFill>
            <a:srgbClr val="4F9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3063239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3E5F"/>
                </a:solidFill>
                <a:latin typeface="Microsoft YaHei"/>
              </a:rPr>
              <a:t>小锁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4160520"/>
            <a:ext cx="3017520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47B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138160" y="4370831"/>
            <a:ext cx="502920" cy="502920"/>
          </a:xfrm>
          <a:prstGeom prst="diamond">
            <a:avLst/>
          </a:prstGeom>
          <a:solidFill>
            <a:srgbClr val="47B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438912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3E5F"/>
                </a:solidFill>
                <a:latin typeface="Microsoft YaHei"/>
              </a:rPr>
              <a:t>小锁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2606040"/>
            <a:ext cx="3429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8B6FD7"/>
                </a:solidFill>
                <a:latin typeface="Microsoft YaHei"/>
              </a:rPr>
              <a:t>药物常常要找到合适的“靶点”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6153912"/>
            <a:ext cx="10972800" cy="457200"/>
          </a:xfrm>
          <a:prstGeom prst="roundRect">
            <a:avLst/>
          </a:prstGeom>
          <a:solidFill>
            <a:srgbClr val="FFF9EB"/>
          </a:solidFill>
          <a:ln w="15240">
            <a:solidFill>
              <a:srgbClr val="FCC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199632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C3E5F"/>
                </a:solidFill>
                <a:latin typeface="Microsoft YaHei"/>
              </a:rPr>
              <a:t>🎤 互动：配对游戏：哪把钥匙最可能打开哪把锁？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4280" y="1371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57482"/>
                </a:solidFill>
                <a:latin typeface="Microsoft YaHe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69880" y="137160"/>
            <a:ext cx="777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57482"/>
                </a:solidFill>
                <a:latin typeface="Microsoft YaHei"/>
              </a:rPr>
              <a:t>约 2 min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C3E5F"/>
                </a:solidFill>
                <a:latin typeface="Microsoft YaHei"/>
              </a:rPr>
              <a:t>身体里还有很多“大门”和“关卡”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329184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7B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08760" y="2331720"/>
            <a:ext cx="164592" cy="1143000"/>
          </a:xfrm>
          <a:prstGeom prst="rect">
            <a:avLst/>
          </a:prstGeom>
          <a:solidFill>
            <a:srgbClr val="47B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2331720"/>
            <a:ext cx="164592" cy="1143000"/>
          </a:xfrm>
          <a:prstGeom prst="rect">
            <a:avLst/>
          </a:prstGeom>
          <a:solidFill>
            <a:srgbClr val="47B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14600" y="2331720"/>
            <a:ext cx="164592" cy="1143000"/>
          </a:xfrm>
          <a:prstGeom prst="rect">
            <a:avLst/>
          </a:prstGeom>
          <a:solidFill>
            <a:srgbClr val="47B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703320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47B17A"/>
                </a:solidFill>
                <a:latin typeface="Microsoft YaHei"/>
              </a:rPr>
              <a:t>肠道屏障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16052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657482"/>
                </a:solidFill>
                <a:latin typeface="Microsoft YaHei"/>
              </a:rPr>
              <a:t>不是所有东西都能进去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737360"/>
            <a:ext cx="329184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9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0" y="2331720"/>
            <a:ext cx="164592" cy="1143000"/>
          </a:xfrm>
          <a:prstGeom prst="rect">
            <a:avLst/>
          </a:prstGeom>
          <a:solidFill>
            <a:srgbClr val="4F9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06440" y="2331720"/>
            <a:ext cx="164592" cy="1143000"/>
          </a:xfrm>
          <a:prstGeom prst="rect">
            <a:avLst/>
          </a:prstGeom>
          <a:solidFill>
            <a:srgbClr val="4F9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331720"/>
            <a:ext cx="164592" cy="1143000"/>
          </a:xfrm>
          <a:prstGeom prst="rect">
            <a:avLst/>
          </a:prstGeom>
          <a:solidFill>
            <a:srgbClr val="4F9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3703320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4F95E6"/>
                </a:solidFill>
                <a:latin typeface="Microsoft YaHei"/>
              </a:rPr>
              <a:t>血液运输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16052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657482"/>
                </a:solidFill>
                <a:latin typeface="Microsoft YaHei"/>
              </a:rPr>
              <a:t>需要搭上“运输车”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737360"/>
            <a:ext cx="329184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6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2331720"/>
            <a:ext cx="164592" cy="1143000"/>
          </a:xfrm>
          <a:prstGeom prst="rect">
            <a:avLst/>
          </a:prstGeom>
          <a:solidFill>
            <a:srgbClr val="8B6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0" y="2331720"/>
            <a:ext cx="164592" cy="1143000"/>
          </a:xfrm>
          <a:prstGeom prst="rect">
            <a:avLst/>
          </a:prstGeom>
          <a:solidFill>
            <a:srgbClr val="8B6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104120" y="2331720"/>
            <a:ext cx="164592" cy="1143000"/>
          </a:xfrm>
          <a:prstGeom prst="rect">
            <a:avLst/>
          </a:prstGeom>
          <a:solidFill>
            <a:srgbClr val="8B6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3703320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8B6FD7"/>
                </a:solidFill>
                <a:latin typeface="Microsoft YaHei"/>
              </a:rPr>
              <a:t>特殊保护区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416052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657482"/>
                </a:solidFill>
                <a:latin typeface="Microsoft YaHei"/>
              </a:rPr>
              <a:t>有些地方更难进入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413248"/>
            <a:ext cx="9418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3E5F"/>
                </a:solidFill>
                <a:latin typeface="Microsoft YaHei"/>
              </a:rPr>
              <a:t>科研工作者会想办法让药物“走对路”。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1371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57482"/>
                </a:solidFill>
                <a:latin typeface="Microsoft YaHei"/>
              </a:rPr>
              <a:t>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69880" y="137160"/>
            <a:ext cx="777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57482"/>
                </a:solidFill>
                <a:latin typeface="Microsoft YaHei"/>
              </a:rPr>
              <a:t>约 2 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C3E5F"/>
                </a:solidFill>
                <a:latin typeface="Microsoft YaHei"/>
              </a:rPr>
              <a:t>科学家怎样发明一种新药？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2148840"/>
            <a:ext cx="914400" cy="914400"/>
          </a:xfrm>
          <a:prstGeom prst="ellipse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2340864"/>
            <a:ext cx="320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46120"/>
            <a:ext cx="1463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3E5F"/>
                </a:solidFill>
                <a:latin typeface="Microsoft YaHei"/>
              </a:rPr>
              <a:t>发现问题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783080" y="2468880"/>
            <a:ext cx="502920" cy="256032"/>
          </a:xfrm>
          <a:prstGeom prst="rightArrow">
            <a:avLst/>
          </a:prstGeom>
          <a:solidFill>
            <a:srgbClr val="65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79191" y="2148840"/>
            <a:ext cx="914400" cy="914400"/>
          </a:xfrm>
          <a:prstGeom prst="ellipse">
            <a:avLst/>
          </a:prstGeom>
          <a:solidFill>
            <a:srgbClr val="8B6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2340864"/>
            <a:ext cx="320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4872" y="3246120"/>
            <a:ext cx="1463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3E5F"/>
                </a:solidFill>
                <a:latin typeface="Microsoft YaHei"/>
              </a:rPr>
              <a:t>找到目标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85031" y="2468880"/>
            <a:ext cx="502920" cy="256032"/>
          </a:xfrm>
          <a:prstGeom prst="rightArrow">
            <a:avLst/>
          </a:prstGeom>
          <a:solidFill>
            <a:srgbClr val="65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81144" y="2148840"/>
            <a:ext cx="914400" cy="914400"/>
          </a:xfrm>
          <a:prstGeom prst="ellipse">
            <a:avLst/>
          </a:prstGeom>
          <a:solidFill>
            <a:srgbClr val="4F9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3752" y="2340864"/>
            <a:ext cx="320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3246120"/>
            <a:ext cx="1463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3E5F"/>
                </a:solidFill>
                <a:latin typeface="Microsoft YaHei"/>
              </a:rPr>
              <a:t>设计候选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586983" y="2468880"/>
            <a:ext cx="502920" cy="256032"/>
          </a:xfrm>
          <a:prstGeom prst="rightArrow">
            <a:avLst/>
          </a:prstGeom>
          <a:solidFill>
            <a:srgbClr val="65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148840"/>
            <a:ext cx="914400" cy="914400"/>
          </a:xfrm>
          <a:prstGeom prst="ellipse">
            <a:avLst/>
          </a:prstGeom>
          <a:solidFill>
            <a:srgbClr val="47B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75704" y="2340864"/>
            <a:ext cx="320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3246120"/>
            <a:ext cx="1463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3E5F"/>
                </a:solidFill>
                <a:latin typeface="Microsoft YaHei"/>
              </a:rPr>
              <a:t>做实验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488936" y="2468880"/>
            <a:ext cx="502920" cy="256032"/>
          </a:xfrm>
          <a:prstGeom prst="rightArrow">
            <a:avLst/>
          </a:prstGeom>
          <a:solidFill>
            <a:srgbClr val="65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85048" y="2148840"/>
            <a:ext cx="914400" cy="914400"/>
          </a:xfrm>
          <a:prstGeom prst="ellipse">
            <a:avLst/>
          </a:prstGeom>
          <a:solidFill>
            <a:srgbClr val="FCC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77656" y="2340864"/>
            <a:ext cx="320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8" y="3246120"/>
            <a:ext cx="1463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3E5F"/>
                </a:solidFill>
                <a:latin typeface="Microsoft YaHei"/>
              </a:rPr>
              <a:t>检查安全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390888" y="2468880"/>
            <a:ext cx="502920" cy="256032"/>
          </a:xfrm>
          <a:prstGeom prst="rightArrow">
            <a:avLst/>
          </a:prstGeom>
          <a:solidFill>
            <a:srgbClr val="65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87000" y="2148840"/>
            <a:ext cx="914400" cy="914400"/>
          </a:xfrm>
          <a:prstGeom prst="ellipse">
            <a:avLst/>
          </a:prstGeom>
          <a:solidFill>
            <a:srgbClr val="4C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79608" y="2340864"/>
            <a:ext cx="320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246120"/>
            <a:ext cx="1463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3E5F"/>
                </a:solidFill>
                <a:latin typeface="Microsoft YaHei"/>
              </a:rPr>
              <a:t>帮助病人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4160520"/>
            <a:ext cx="10149840" cy="960120"/>
          </a:xfrm>
          <a:prstGeom prst="roundRect">
            <a:avLst/>
          </a:prstGeom>
          <a:solidFill>
            <a:srgbClr val="FFF9EB"/>
          </a:solidFill>
          <a:ln w="15240">
            <a:solidFill>
              <a:srgbClr val="FCC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4370832"/>
            <a:ext cx="9509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C3E5F"/>
                </a:solidFill>
                <a:latin typeface="Microsoft YaHei"/>
              </a:rPr>
              <a:t>科学不是“一次就成功”，而是：提问 → 实验 → 改进 → 再实验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1371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57482"/>
                </a:solidFill>
                <a:latin typeface="Microsoft YaHei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69880" y="137160"/>
            <a:ext cx="777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57482"/>
                </a:solidFill>
                <a:latin typeface="Microsoft YaHei"/>
              </a:rPr>
              <a:t>约 2 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C3E5F"/>
                </a:solidFill>
                <a:latin typeface="Microsoft YaHei"/>
              </a:rPr>
              <a:t>科研工作者的一天：我在做什么？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554480"/>
            <a:ext cx="594360" cy="594360"/>
          </a:xfrm>
          <a:prstGeom prst="ellipse">
            <a:avLst/>
          </a:prstGeom>
          <a:solidFill>
            <a:srgbClr val="4F9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1673352"/>
            <a:ext cx="228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41732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4F95E6"/>
                </a:solidFill>
                <a:latin typeface="Microsoft YaHei"/>
              </a:rPr>
              <a:t>读资料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417320"/>
            <a:ext cx="4937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32D3A"/>
                </a:solidFill>
                <a:latin typeface="Microsoft YaHei"/>
              </a:rPr>
              <a:t>发现别人已经知道什么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606040"/>
            <a:ext cx="594360" cy="594360"/>
          </a:xfrm>
          <a:prstGeom prst="ellipse">
            <a:avLst/>
          </a:prstGeom>
          <a:solidFill>
            <a:srgbClr val="47B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724912"/>
            <a:ext cx="228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46888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47B17A"/>
                </a:solidFill>
                <a:latin typeface="Microsoft YaHei"/>
              </a:rPr>
              <a:t>做实验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4937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32D3A"/>
                </a:solidFill>
                <a:latin typeface="Microsoft YaHei"/>
              </a:rPr>
              <a:t>看看想法对不对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657599"/>
            <a:ext cx="594360" cy="594360"/>
          </a:xfrm>
          <a:prstGeom prst="ellipse">
            <a:avLst/>
          </a:prstGeom>
          <a:solidFill>
            <a:srgbClr val="8B6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776472"/>
            <a:ext cx="228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520439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8B6FD7"/>
                </a:solidFill>
                <a:latin typeface="Microsoft YaHei"/>
              </a:rPr>
              <a:t>看数据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520439"/>
            <a:ext cx="4937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32D3A"/>
                </a:solidFill>
                <a:latin typeface="Microsoft YaHei"/>
              </a:rPr>
              <a:t>寻找规律和答案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709160"/>
            <a:ext cx="594360" cy="594360"/>
          </a:xfrm>
          <a:prstGeom prst="ellipse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828032"/>
            <a:ext cx="228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57200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16F67"/>
                </a:solidFill>
                <a:latin typeface="Microsoft YaHei"/>
              </a:rPr>
              <a:t>改方案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572000"/>
            <a:ext cx="4937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32D3A"/>
                </a:solidFill>
                <a:latin typeface="Microsoft YaHei"/>
              </a:rPr>
              <a:t>失败也能告诉我们新东西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1508760"/>
            <a:ext cx="2926080" cy="4069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9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1783080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C3E5F"/>
                </a:solidFill>
                <a:latin typeface="Microsoft YaHei"/>
              </a:rPr>
              <a:t>小实验室</a:t>
            </a:r>
          </a:p>
        </p:txBody>
      </p:sp>
      <p:sp>
        <p:nvSpPr>
          <p:cNvPr id="22" name="Trapezoid 21"/>
          <p:cNvSpPr/>
          <p:nvPr/>
        </p:nvSpPr>
        <p:spPr>
          <a:xfrm>
            <a:off x="8915400" y="2743200"/>
            <a:ext cx="548640" cy="731520"/>
          </a:xfrm>
          <a:prstGeom prst="trapezoid">
            <a:avLst/>
          </a:prstGeom>
          <a:solidFill>
            <a:srgbClr val="4F95E6"/>
          </a:solidFill>
          <a:ln>
            <a:solidFill>
              <a:srgbClr val="1C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2395728"/>
            <a:ext cx="1828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1C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rapezoid 23"/>
          <p:cNvSpPr/>
          <p:nvPr/>
        </p:nvSpPr>
        <p:spPr>
          <a:xfrm>
            <a:off x="9601200" y="2743200"/>
            <a:ext cx="548640" cy="731520"/>
          </a:xfrm>
          <a:prstGeom prst="trapezoid">
            <a:avLst/>
          </a:prstGeom>
          <a:solidFill>
            <a:srgbClr val="47B17A"/>
          </a:solidFill>
          <a:ln>
            <a:solidFill>
              <a:srgbClr val="1C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2395728"/>
            <a:ext cx="1828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1C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rapezoid 25"/>
          <p:cNvSpPr/>
          <p:nvPr/>
        </p:nvSpPr>
        <p:spPr>
          <a:xfrm>
            <a:off x="10287000" y="2743200"/>
            <a:ext cx="548640" cy="731520"/>
          </a:xfrm>
          <a:prstGeom prst="trapezoid">
            <a:avLst/>
          </a:prstGeom>
          <a:solidFill>
            <a:srgbClr val="F16F67"/>
          </a:solidFill>
          <a:ln>
            <a:solidFill>
              <a:srgbClr val="1C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469880" y="2395728"/>
            <a:ext cx="1828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1C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29768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8B6FD7"/>
                </a:solidFill>
                <a:latin typeface="Microsoft YaHei"/>
              </a:rPr>
              <a:t>好奇心 + 认真 + 耐心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6153912"/>
            <a:ext cx="10972800" cy="457200"/>
          </a:xfrm>
          <a:prstGeom prst="roundRect">
            <a:avLst/>
          </a:prstGeom>
          <a:solidFill>
            <a:srgbClr val="FFF9EB"/>
          </a:solidFill>
          <a:ln w="15240">
            <a:solidFill>
              <a:srgbClr val="FCC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199632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C3E5F"/>
                </a:solidFill>
                <a:latin typeface="Microsoft YaHei"/>
              </a:rPr>
              <a:t>🎤 互动：你觉得科学家最重要的能力是什么？聪明？耐心？会提问题？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84280" y="1371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57482"/>
                </a:solidFill>
                <a:latin typeface="Microsoft YaHei"/>
              </a:rP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80" y="137160"/>
            <a:ext cx="777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57482"/>
                </a:solidFill>
                <a:latin typeface="Microsoft YaHei"/>
              </a:rPr>
              <a:t>约 2 min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C3E5F"/>
                </a:solidFill>
                <a:latin typeface="Microsoft YaHei"/>
              </a:rPr>
              <a:t>安全小实验：糖块真的“消失”了吗？</a:t>
            </a:r>
          </a:p>
        </p:txBody>
      </p:sp>
      <p:sp>
        <p:nvSpPr>
          <p:cNvPr id="4" name="Trapezoid 3"/>
          <p:cNvSpPr/>
          <p:nvPr/>
        </p:nvSpPr>
        <p:spPr>
          <a:xfrm rot="10800000">
            <a:off x="1828800" y="1828800"/>
            <a:ext cx="2194560" cy="2468880"/>
          </a:xfrm>
          <a:prstGeom prst="trapezoid">
            <a:avLst/>
          </a:prstGeom>
          <a:solidFill>
            <a:srgbClr val="D2F0FF"/>
          </a:solidFill>
          <a:ln>
            <a:solidFill>
              <a:srgbClr val="4F9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06040" y="2286000"/>
            <a:ext cx="457200" cy="457200"/>
          </a:xfrm>
          <a:prstGeom prst="ellipse">
            <a:avLst/>
          </a:prstGeom>
          <a:solidFill>
            <a:srgbClr val="FFFFFF"/>
          </a:solidFill>
          <a:ln>
            <a:solidFill>
              <a:srgbClr val="4F9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88336" y="2395728"/>
            <a:ext cx="274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C3E5F"/>
                </a:solidFill>
                <a:latin typeface="Microsoft YaHei"/>
              </a:rPr>
              <a:t>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4572000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C3E5F"/>
                </a:solidFill>
                <a:latin typeface="Microsoft YaHei"/>
              </a:rPr>
              <a:t>不搅拌</a:t>
            </a:r>
          </a:p>
        </p:txBody>
      </p:sp>
      <p:sp>
        <p:nvSpPr>
          <p:cNvPr id="8" name="Trapezoid 7"/>
          <p:cNvSpPr/>
          <p:nvPr/>
        </p:nvSpPr>
        <p:spPr>
          <a:xfrm rot="10800000">
            <a:off x="7315200" y="1828800"/>
            <a:ext cx="2194560" cy="2468880"/>
          </a:xfrm>
          <a:prstGeom prst="trapezoid">
            <a:avLst/>
          </a:prstGeom>
          <a:solidFill>
            <a:srgbClr val="D2F0FF"/>
          </a:solidFill>
          <a:ln>
            <a:solidFill>
              <a:srgbClr val="4F9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92440" y="2286000"/>
            <a:ext cx="457200" cy="457200"/>
          </a:xfrm>
          <a:prstGeom prst="ellipse">
            <a:avLst/>
          </a:prstGeom>
          <a:solidFill>
            <a:srgbClr val="FFFFFF"/>
          </a:solidFill>
          <a:ln>
            <a:solidFill>
              <a:srgbClr val="4F9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74736" y="2395728"/>
            <a:ext cx="274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C3E5F"/>
                </a:solidFill>
                <a:latin typeface="Microsoft YaHei"/>
              </a:rPr>
              <a:t>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4572000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C3E5F"/>
                </a:solidFill>
                <a:latin typeface="Microsoft YaHei"/>
              </a:rPr>
              <a:t>轻轻搅拌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2697480"/>
            <a:ext cx="640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47B17A"/>
                </a:solidFill>
                <a:latin typeface="Microsoft YaHei"/>
              </a:rPr>
              <a:t>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5257800"/>
            <a:ext cx="621792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9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5367528"/>
            <a:ext cx="5669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32D3A"/>
                </a:solidFill>
                <a:latin typeface="Microsoft YaHei"/>
              </a:rPr>
              <a:t>它没有消失，是变成很小的颗粒分散在水里。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6153912"/>
            <a:ext cx="10972800" cy="457200"/>
          </a:xfrm>
          <a:prstGeom prst="roundRect">
            <a:avLst/>
          </a:prstGeom>
          <a:solidFill>
            <a:srgbClr val="FFF9EB"/>
          </a:solidFill>
          <a:ln w="15240">
            <a:solidFill>
              <a:srgbClr val="FCC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199632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C3E5F"/>
                </a:solidFill>
                <a:latin typeface="Microsoft YaHei"/>
              </a:rPr>
              <a:t>🎤 互动：预测：哪一杯糖块会更快看不见？为什么？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1371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57482"/>
                </a:solidFill>
                <a:latin typeface="Microsoft YaHe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80" y="137160"/>
            <a:ext cx="777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57482"/>
                </a:solidFill>
                <a:latin typeface="Microsoft YaHei"/>
              </a:rPr>
              <a:t>约 2 min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DC4040"/>
                </a:solidFill>
                <a:latin typeface="Microsoft YaHei"/>
              </a:rPr>
              <a:t>最重要的一页：药不是糖果！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2286000" cy="4297680"/>
          </a:xfrm>
          <a:prstGeom prst="roundRect">
            <a:avLst/>
          </a:prstGeom>
          <a:solidFill>
            <a:srgbClr val="1C3E5F"/>
          </a:solidFill>
          <a:ln w="15240">
            <a:solidFill>
              <a:srgbClr val="1C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08760" y="1828800"/>
            <a:ext cx="914400" cy="914400"/>
          </a:xfrm>
          <a:prstGeom prst="ellipse">
            <a:avLst/>
          </a:prstGeom>
          <a:solidFill>
            <a:srgbClr val="DC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3063240"/>
            <a:ext cx="914400" cy="914400"/>
          </a:xfrm>
          <a:prstGeom prst="ellipse">
            <a:avLst/>
          </a:prstGeom>
          <a:solidFill>
            <a:srgbClr val="FCC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4297680"/>
            <a:ext cx="914400" cy="914400"/>
          </a:xfrm>
          <a:prstGeom prst="ellipse">
            <a:avLst/>
          </a:prstGeom>
          <a:solidFill>
            <a:srgbClr val="47B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49039" y="1737360"/>
            <a:ext cx="256032" cy="256032"/>
          </a:xfrm>
          <a:prstGeom prst="ellipse">
            <a:avLst/>
          </a:prstGeom>
          <a:solidFill>
            <a:srgbClr val="DC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1728216"/>
            <a:ext cx="21031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691639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32D3A"/>
                </a:solidFill>
                <a:latin typeface="Microsoft YaHei"/>
              </a:rPr>
              <a:t>不知道是什么药 → 不碰、不尝</a:t>
            </a:r>
          </a:p>
        </p:txBody>
      </p:sp>
      <p:sp>
        <p:nvSpPr>
          <p:cNvPr id="11" name="Oval 10"/>
          <p:cNvSpPr/>
          <p:nvPr/>
        </p:nvSpPr>
        <p:spPr>
          <a:xfrm>
            <a:off x="3749039" y="2606040"/>
            <a:ext cx="256032" cy="256032"/>
          </a:xfrm>
          <a:prstGeom prst="ellipse">
            <a:avLst/>
          </a:prstGeom>
          <a:solidFill>
            <a:srgbClr val="47B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6472" y="2596896"/>
            <a:ext cx="21031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56032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32D3A"/>
                </a:solidFill>
                <a:latin typeface="Microsoft YaHei"/>
              </a:rPr>
              <a:t>身体不舒服 → 告诉老师和家长</a:t>
            </a:r>
          </a:p>
        </p:txBody>
      </p:sp>
      <p:sp>
        <p:nvSpPr>
          <p:cNvPr id="14" name="Oval 13"/>
          <p:cNvSpPr/>
          <p:nvPr/>
        </p:nvSpPr>
        <p:spPr>
          <a:xfrm>
            <a:off x="3749039" y="3474720"/>
            <a:ext cx="256032" cy="256032"/>
          </a:xfrm>
          <a:prstGeom prst="ellipse">
            <a:avLst/>
          </a:prstGeom>
          <a:solidFill>
            <a:srgbClr val="4F9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6472" y="3465576"/>
            <a:ext cx="21031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42900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32D3A"/>
                </a:solidFill>
                <a:latin typeface="Microsoft YaHei"/>
              </a:rPr>
              <a:t>药物只按大人/医生说的方法用</a:t>
            </a:r>
          </a:p>
        </p:txBody>
      </p:sp>
      <p:sp>
        <p:nvSpPr>
          <p:cNvPr id="17" name="Oval 16"/>
          <p:cNvSpPr/>
          <p:nvPr/>
        </p:nvSpPr>
        <p:spPr>
          <a:xfrm>
            <a:off x="3749039" y="4343400"/>
            <a:ext cx="256032" cy="256032"/>
          </a:xfrm>
          <a:prstGeom prst="ellipse">
            <a:avLst/>
          </a:prstGeom>
          <a:solidFill>
            <a:srgbClr val="8B6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76472" y="4334256"/>
            <a:ext cx="21031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29768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32D3A"/>
                </a:solidFill>
                <a:latin typeface="Microsoft YaHei"/>
              </a:rPr>
              <a:t>不和同学分享药物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5166360"/>
            <a:ext cx="7406640" cy="640080"/>
          </a:xfrm>
          <a:prstGeom prst="roundRect">
            <a:avLst/>
          </a:prstGeom>
          <a:solidFill>
            <a:srgbClr val="FFE1E6"/>
          </a:solidFill>
          <a:ln w="15240">
            <a:solidFill>
              <a:srgbClr val="F16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39" y="5321808"/>
            <a:ext cx="6766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16F67"/>
                </a:solidFill>
                <a:latin typeface="Microsoft YaHei"/>
              </a:rPr>
              <a:t>记住：药物是帮助身体的工具，不是零食。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1371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57482"/>
                </a:solidFill>
                <a:latin typeface="Microsoft YaHei"/>
              </a:rPr>
              <a:t>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69880" y="137160"/>
            <a:ext cx="777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57482"/>
                </a:solidFill>
                <a:latin typeface="Microsoft YaHei"/>
              </a:rPr>
              <a:t>约 2 min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C3E5F"/>
                </a:solidFill>
                <a:latin typeface="Microsoft YaHei"/>
              </a:rPr>
              <a:t>红灯还是绿灯？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868680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35607"/>
            <a:ext cx="81381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232D3A"/>
                </a:solidFill>
                <a:latin typeface="Microsoft YaHei"/>
              </a:rPr>
              <a:t>1. 医生告诉妈妈：按时给你吃这个药。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1325880"/>
            <a:ext cx="1691640" cy="804672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47B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93808" y="1490472"/>
            <a:ext cx="1188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47B17A"/>
                </a:solidFill>
                <a:latin typeface="Microsoft YaHei"/>
              </a:rPr>
              <a:t>绿灯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04872"/>
            <a:ext cx="868680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81381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232D3A"/>
                </a:solidFill>
                <a:latin typeface="Microsoft YaHei"/>
              </a:rPr>
              <a:t>2. 看到桌上漂亮的药片，自己尝一个。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2404872"/>
            <a:ext cx="1691640" cy="804672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DC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93808" y="2569464"/>
            <a:ext cx="1188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DC4040"/>
                </a:solidFill>
                <a:latin typeface="Microsoft YaHei"/>
              </a:rPr>
              <a:t>红灯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83863"/>
            <a:ext cx="868680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93591"/>
            <a:ext cx="81381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232D3A"/>
                </a:solidFill>
                <a:latin typeface="Microsoft YaHei"/>
              </a:rPr>
              <a:t>3. 同学说他的药很好吃，分给你一颗。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3483863"/>
            <a:ext cx="1691640" cy="804672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DC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93808" y="3648456"/>
            <a:ext cx="1188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DC4040"/>
                </a:solidFill>
                <a:latin typeface="Microsoft YaHei"/>
              </a:rPr>
              <a:t>红灯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562856"/>
            <a:ext cx="868680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72584"/>
            <a:ext cx="81381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232D3A"/>
                </a:solidFill>
                <a:latin typeface="Microsoft YaHei"/>
              </a:rPr>
              <a:t>4. 肚子不舒服，马上告诉老师和爸爸妈妈。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4562856"/>
            <a:ext cx="1691640" cy="804672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47B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93808" y="4727448"/>
            <a:ext cx="1188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47B17A"/>
                </a:solidFill>
                <a:latin typeface="Microsoft YaHei"/>
              </a:rPr>
              <a:t>绿灯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6153912"/>
            <a:ext cx="10972800" cy="457200"/>
          </a:xfrm>
          <a:prstGeom prst="roundRect">
            <a:avLst/>
          </a:prstGeom>
          <a:solidFill>
            <a:srgbClr val="FFF9EB"/>
          </a:solidFill>
          <a:ln w="15240">
            <a:solidFill>
              <a:srgbClr val="FCC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199632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C3E5F"/>
                </a:solidFill>
                <a:latin typeface="Microsoft YaHei"/>
              </a:rPr>
              <a:t>🎤 互动：每题先不要看答案！全班用双手比“○”或“×”。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1371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57482"/>
                </a:solidFill>
                <a:latin typeface="Microsoft YaHei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69880" y="137160"/>
            <a:ext cx="777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57482"/>
                </a:solidFill>
                <a:latin typeface="Microsoft YaHei"/>
              </a:rPr>
              <a:t>约 2 min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C3E5F"/>
                </a:solidFill>
                <a:latin typeface="Microsoft YaHei"/>
              </a:rPr>
              <a:t>药物和身体，是队友！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1920240" cy="777240"/>
          </a:xfrm>
          <a:prstGeom prst="roundRect">
            <a:avLst/>
          </a:prstGeom>
          <a:solidFill>
            <a:srgbClr val="4F95E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74519" y="2377440"/>
            <a:ext cx="960120" cy="777240"/>
          </a:xfrm>
          <a:prstGeom prst="roundRect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74519" y="2377440"/>
            <a:ext cx="480060" cy="777240"/>
          </a:xfrm>
          <a:prstGeom prst="rect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2560320"/>
            <a:ext cx="73152" cy="73152"/>
          </a:xfrm>
          <a:prstGeom prst="ellipse">
            <a:avLst/>
          </a:prstGeom>
          <a:solidFill>
            <a:srgbClr val="23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4480" y="2560320"/>
            <a:ext cx="73152" cy="73152"/>
          </a:xfrm>
          <a:prstGeom prst="ellipse">
            <a:avLst/>
          </a:prstGeom>
          <a:solidFill>
            <a:srgbClr val="23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1353312" y="2633472"/>
            <a:ext cx="274320" cy="164592"/>
          </a:xfrm>
          <a:prstGeom prst="arc">
            <a:avLst/>
          </a:prstGeom>
          <a:noFill/>
          <a:ln w="19050">
            <a:solidFill>
              <a:srgbClr val="23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07008" y="2450592"/>
            <a:ext cx="256032" cy="256032"/>
          </a:xfrm>
          <a:prstGeom prst="ellipse">
            <a:avLst/>
          </a:prstGeom>
          <a:solidFill>
            <a:srgbClr val="FFFFFF"/>
          </a:solidFill>
          <a:ln>
            <a:solidFill>
              <a:srgbClr val="1C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17904" y="2450592"/>
            <a:ext cx="256032" cy="256032"/>
          </a:xfrm>
          <a:prstGeom prst="ellipse">
            <a:avLst/>
          </a:prstGeom>
          <a:solidFill>
            <a:srgbClr val="FFFFFF"/>
          </a:solidFill>
          <a:ln>
            <a:solidFill>
              <a:srgbClr val="1C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25880" y="3090672"/>
            <a:ext cx="73152" cy="320040"/>
          </a:xfrm>
          <a:prstGeom prst="rect">
            <a:avLst/>
          </a:prstGeom>
          <a:solidFill>
            <a:srgbClr val="1C3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090672"/>
            <a:ext cx="73152" cy="320040"/>
          </a:xfrm>
          <a:prstGeom prst="rect">
            <a:avLst/>
          </a:prstGeom>
          <a:solidFill>
            <a:srgbClr val="1C3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840480" y="2468880"/>
            <a:ext cx="685800" cy="685800"/>
          </a:xfrm>
          <a:prstGeom prst="ellipse">
            <a:avLst/>
          </a:prstGeom>
          <a:solidFill>
            <a:srgbClr val="47B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63440" y="2468880"/>
            <a:ext cx="685800" cy="685800"/>
          </a:xfrm>
          <a:prstGeom prst="ellipse">
            <a:avLst/>
          </a:prstGeom>
          <a:solidFill>
            <a:srgbClr val="8B6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0" y="2468880"/>
            <a:ext cx="685800" cy="685800"/>
          </a:xfrm>
          <a:prstGeom prst="ellipse">
            <a:avLst/>
          </a:prstGeom>
          <a:solidFill>
            <a:srgbClr val="4F9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342900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8B6FD7"/>
                </a:solidFill>
                <a:latin typeface="Microsoft YaHei"/>
              </a:rPr>
              <a:t>免疫小警察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1828800"/>
            <a:ext cx="20116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6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148840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8B6FD7"/>
                </a:solidFill>
                <a:latin typeface="Microsoft YaHei"/>
              </a:rPr>
              <a:t>睡觉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828800"/>
            <a:ext cx="20116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9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2148840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4F95E6"/>
                </a:solidFill>
                <a:latin typeface="Microsoft YaHei"/>
              </a:rPr>
              <a:t>喝水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429000"/>
            <a:ext cx="20116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7B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749039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47B17A"/>
                </a:solidFill>
                <a:latin typeface="Microsoft YaHei"/>
              </a:rPr>
              <a:t>吃好饭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3429000"/>
            <a:ext cx="20116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C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3749039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CC949"/>
                </a:solidFill>
                <a:latin typeface="Microsoft YaHei"/>
              </a:rPr>
              <a:t>休息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074920"/>
            <a:ext cx="9509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C3E5F"/>
                </a:solidFill>
                <a:latin typeface="Microsoft YaHei"/>
              </a:rPr>
              <a:t>药物不是一个人战斗，身体自己也会努力恢复。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84280" y="1371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57482"/>
                </a:solidFill>
                <a:latin typeface="Microsoft YaHei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137160"/>
            <a:ext cx="777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57482"/>
                </a:solidFill>
                <a:latin typeface="Microsoft YaHei"/>
              </a:rPr>
              <a:t>约 2 min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C3E5F"/>
                </a:solidFill>
                <a:latin typeface="Microsoft YaHei"/>
              </a:rPr>
              <a:t>小侦探毕业考试！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25880"/>
            <a:ext cx="685800" cy="685800"/>
          </a:xfrm>
          <a:prstGeom prst="ellipse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90472"/>
            <a:ext cx="228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280160"/>
            <a:ext cx="6492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C3E5F"/>
                </a:solidFill>
                <a:latin typeface="Microsoft YaHei"/>
              </a:rPr>
              <a:t>药物是不是糖果？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280160"/>
            <a:ext cx="2194560" cy="685800"/>
          </a:xfrm>
          <a:prstGeom prst="roundRect">
            <a:avLst/>
          </a:prstGeom>
          <a:solidFill>
            <a:srgbClr val="FFF9EB"/>
          </a:solidFill>
          <a:ln w="15240">
            <a:solidFill>
              <a:srgbClr val="FCC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1417320"/>
            <a:ext cx="1645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16F67"/>
                </a:solidFill>
                <a:latin typeface="Microsoft YaHei"/>
              </a:rPr>
              <a:t>不是！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834639"/>
            <a:ext cx="685800" cy="685800"/>
          </a:xfrm>
          <a:prstGeom prst="ellipse">
            <a:avLst/>
          </a:prstGeom>
          <a:solidFill>
            <a:srgbClr val="4F9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99232"/>
            <a:ext cx="228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788920"/>
            <a:ext cx="6492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C3E5F"/>
                </a:solidFill>
                <a:latin typeface="Microsoft YaHei"/>
              </a:rPr>
              <a:t>不同的药，会不会有不同任务？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2788920"/>
            <a:ext cx="2194560" cy="685800"/>
          </a:xfrm>
          <a:prstGeom prst="roundRect">
            <a:avLst/>
          </a:prstGeom>
          <a:solidFill>
            <a:srgbClr val="FFF9EB"/>
          </a:solidFill>
          <a:ln w="15240">
            <a:solidFill>
              <a:srgbClr val="FCC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2926079"/>
            <a:ext cx="1645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16F67"/>
                </a:solidFill>
                <a:latin typeface="Microsoft YaHei"/>
              </a:rPr>
              <a:t>会！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343400"/>
            <a:ext cx="685800" cy="685800"/>
          </a:xfrm>
          <a:prstGeom prst="ellipse">
            <a:avLst/>
          </a:prstGeom>
          <a:solidFill>
            <a:srgbClr val="47B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507992"/>
            <a:ext cx="228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297680"/>
            <a:ext cx="6492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C3E5F"/>
                </a:solidFill>
                <a:latin typeface="Microsoft YaHei"/>
              </a:rPr>
              <a:t>身体不舒服，能不能自己随便吃药？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4297680"/>
            <a:ext cx="2194560" cy="685800"/>
          </a:xfrm>
          <a:prstGeom prst="roundRect">
            <a:avLst/>
          </a:prstGeom>
          <a:solidFill>
            <a:srgbClr val="FFF9EB"/>
          </a:solidFill>
          <a:ln w="15240">
            <a:solidFill>
              <a:srgbClr val="FCC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4434840"/>
            <a:ext cx="1645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16F67"/>
                </a:solidFill>
                <a:latin typeface="Microsoft YaHei"/>
              </a:rPr>
              <a:t>不能！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6153912"/>
            <a:ext cx="10972800" cy="457200"/>
          </a:xfrm>
          <a:prstGeom prst="roundRect">
            <a:avLst/>
          </a:prstGeom>
          <a:solidFill>
            <a:srgbClr val="FFF9EB"/>
          </a:solidFill>
          <a:ln w="15240">
            <a:solidFill>
              <a:srgbClr val="FCC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199632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C3E5F"/>
                </a:solidFill>
                <a:latin typeface="Microsoft YaHei"/>
              </a:rPr>
              <a:t>🎤 互动：先抢答，再一起大声说出正确答案！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1371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57482"/>
                </a:solidFill>
                <a:latin typeface="Microsoft YaHei"/>
              </a:rP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137160"/>
            <a:ext cx="777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57482"/>
                </a:solidFill>
                <a:latin typeface="Microsoft YaHei"/>
              </a:rPr>
              <a:t>约 2 min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C3E5F"/>
                </a:solidFill>
                <a:latin typeface="Microsoft YaHei"/>
              </a:rPr>
              <a:t>今天只要记住 3 句话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1371600"/>
            <a:ext cx="81381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9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31720" y="1536192"/>
            <a:ext cx="621792" cy="621792"/>
          </a:xfrm>
          <a:prstGeom prst="ellipse">
            <a:avLst/>
          </a:prstGeom>
          <a:solidFill>
            <a:srgbClr val="4F9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50592" y="1682496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00200"/>
            <a:ext cx="6217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3E5F"/>
                </a:solidFill>
                <a:latin typeface="Microsoft YaHei"/>
              </a:rPr>
              <a:t>药物有不同任务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2697480"/>
            <a:ext cx="81381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6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31720" y="2862072"/>
            <a:ext cx="621792" cy="621792"/>
          </a:xfrm>
          <a:prstGeom prst="ellipse">
            <a:avLst/>
          </a:prstGeom>
          <a:solidFill>
            <a:srgbClr val="8B6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0592" y="3008376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926080"/>
            <a:ext cx="6217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3E5F"/>
                </a:solidFill>
                <a:latin typeface="Microsoft YaHei"/>
              </a:rPr>
              <a:t>药物要找对目标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4023360"/>
            <a:ext cx="81381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7B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31720" y="4187952"/>
            <a:ext cx="621792" cy="621792"/>
          </a:xfrm>
          <a:prstGeom prst="ellipse">
            <a:avLst/>
          </a:prstGeom>
          <a:solidFill>
            <a:srgbClr val="47B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0592" y="4334256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251960"/>
            <a:ext cx="6217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3E5F"/>
                </a:solidFill>
                <a:latin typeface="Microsoft YaHei"/>
              </a:rPr>
              <a:t>药物一定要正确使用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440680"/>
            <a:ext cx="9692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16F67"/>
                </a:solidFill>
                <a:latin typeface="Microsoft YaHei"/>
              </a:rPr>
              <a:t>科学就是：保持好奇，勇敢提问，认真寻找答案。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1371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57482"/>
                </a:solidFill>
                <a:latin typeface="Microsoft YaHei"/>
              </a:rPr>
              <a:t>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80" y="137160"/>
            <a:ext cx="777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57482"/>
                </a:solidFill>
                <a:latin typeface="Microsoft YaHei"/>
              </a:rPr>
              <a:t>约 1 min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1C3E5F"/>
                </a:solidFill>
                <a:latin typeface="Microsoft YaHei"/>
              </a:rPr>
              <a:t>恭喜你！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F16F67"/>
                </a:solidFill>
                <a:latin typeface="Microsoft YaHei"/>
              </a:rPr>
              <a:t>成为“安全用药小侦探”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2286000"/>
            <a:ext cx="832104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C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2651760"/>
            <a:ext cx="6309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1">
                <a:solidFill>
                  <a:srgbClr val="8B6FD7"/>
                </a:solidFill>
                <a:latin typeface="Microsoft YaHei"/>
              </a:rPr>
              <a:t>小小科学家证书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429000"/>
            <a:ext cx="6675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232D3A"/>
                </a:solidFill>
                <a:latin typeface="Microsoft YaHei"/>
              </a:rPr>
              <a:t>我会好奇地提问，也会安全地对待药物。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4160520"/>
            <a:ext cx="1920240" cy="777240"/>
          </a:xfrm>
          <a:prstGeom prst="roundRect">
            <a:avLst/>
          </a:prstGeom>
          <a:solidFill>
            <a:srgbClr val="4F95E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80759" y="4160520"/>
            <a:ext cx="960120" cy="777240"/>
          </a:xfrm>
          <a:prstGeom prst="roundRect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59" y="4160520"/>
            <a:ext cx="480060" cy="777240"/>
          </a:xfrm>
          <a:prstGeom prst="rect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32120" y="4343400"/>
            <a:ext cx="73152" cy="73152"/>
          </a:xfrm>
          <a:prstGeom prst="ellipse">
            <a:avLst/>
          </a:prstGeom>
          <a:solidFill>
            <a:srgbClr val="23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60720" y="4343400"/>
            <a:ext cx="73152" cy="73152"/>
          </a:xfrm>
          <a:prstGeom prst="ellipse">
            <a:avLst/>
          </a:prstGeom>
          <a:solidFill>
            <a:srgbClr val="23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rc 12"/>
          <p:cNvSpPr/>
          <p:nvPr/>
        </p:nvSpPr>
        <p:spPr>
          <a:xfrm>
            <a:off x="5559552" y="4416552"/>
            <a:ext cx="274320" cy="164592"/>
          </a:xfrm>
          <a:prstGeom prst="arc">
            <a:avLst/>
          </a:prstGeom>
          <a:noFill/>
          <a:ln w="19050">
            <a:solidFill>
              <a:srgbClr val="23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13248" y="4233672"/>
            <a:ext cx="256032" cy="256032"/>
          </a:xfrm>
          <a:prstGeom prst="ellipse">
            <a:avLst/>
          </a:prstGeom>
          <a:solidFill>
            <a:srgbClr val="FFFFFF"/>
          </a:solidFill>
          <a:ln>
            <a:solidFill>
              <a:srgbClr val="1C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24144" y="4233672"/>
            <a:ext cx="256032" cy="256032"/>
          </a:xfrm>
          <a:prstGeom prst="ellipse">
            <a:avLst/>
          </a:prstGeom>
          <a:solidFill>
            <a:srgbClr val="FFFFFF"/>
          </a:solidFill>
          <a:ln>
            <a:solidFill>
              <a:srgbClr val="1C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32120" y="4873752"/>
            <a:ext cx="73152" cy="320040"/>
          </a:xfrm>
          <a:prstGeom prst="rect">
            <a:avLst/>
          </a:prstGeom>
          <a:solidFill>
            <a:srgbClr val="1C3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4873752"/>
            <a:ext cx="73152" cy="320040"/>
          </a:xfrm>
          <a:prstGeom prst="rect">
            <a:avLst/>
          </a:prstGeom>
          <a:solidFill>
            <a:srgbClr val="1C3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5623560"/>
            <a:ext cx="4389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1C3E5F"/>
                </a:solidFill>
                <a:latin typeface="Microsoft YaHei"/>
              </a:rPr>
              <a:t>谢谢大家！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1371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57482"/>
                </a:solidFill>
                <a:latin typeface="Microsoft YaHei"/>
              </a:rPr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69880" y="137160"/>
            <a:ext cx="777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57482"/>
                </a:solidFill>
                <a:latin typeface="Microsoft YaHei"/>
              </a:rPr>
              <a:t>约 1 min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C3E5F"/>
                </a:solidFill>
                <a:latin typeface="Microsoft YaHei"/>
              </a:rPr>
              <a:t>真实世界：药物到底长什么样？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32688"/>
            <a:ext cx="10149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657482"/>
                </a:solidFill>
                <a:latin typeface="Microsoft YaHei"/>
              </a:rPr>
              <a:t>看一看真实的药片、胶囊和包装</a:t>
            </a:r>
          </a:p>
        </p:txBody>
      </p:sp>
      <p:pic>
        <p:nvPicPr>
          <p:cNvPr id="5" name="Picture 4" descr="pills_medicin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557784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298448"/>
            <a:ext cx="5632703" cy="4535424"/>
          </a:xfrm>
          <a:prstGeom prst="roundRect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0" y="1417320"/>
            <a:ext cx="4800600" cy="4251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9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691640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1C3E5F"/>
                </a:solidFill>
                <a:latin typeface="Microsoft YaHei"/>
              </a:rPr>
              <a:t>你能找到这些吗？</a:t>
            </a:r>
          </a:p>
        </p:txBody>
      </p:sp>
      <p:sp>
        <p:nvSpPr>
          <p:cNvPr id="9" name="Oval 8"/>
          <p:cNvSpPr/>
          <p:nvPr/>
        </p:nvSpPr>
        <p:spPr>
          <a:xfrm>
            <a:off x="6995160" y="2514600"/>
            <a:ext cx="384048" cy="384048"/>
          </a:xfrm>
          <a:prstGeom prst="ellipse">
            <a:avLst/>
          </a:prstGeom>
          <a:solidFill>
            <a:srgbClr val="4F9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4032" y="2596896"/>
            <a:ext cx="146304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459736"/>
            <a:ext cx="2468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232D3A"/>
                </a:solidFill>
                <a:latin typeface="Microsoft YaHei"/>
              </a:rPr>
              <a:t>药片</a:t>
            </a:r>
          </a:p>
        </p:txBody>
      </p:sp>
      <p:sp>
        <p:nvSpPr>
          <p:cNvPr id="12" name="Oval 11"/>
          <p:cNvSpPr/>
          <p:nvPr/>
        </p:nvSpPr>
        <p:spPr>
          <a:xfrm>
            <a:off x="6995160" y="3200400"/>
            <a:ext cx="384048" cy="384048"/>
          </a:xfrm>
          <a:prstGeom prst="ellipse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4032" y="3282696"/>
            <a:ext cx="146304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145536"/>
            <a:ext cx="2468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232D3A"/>
                </a:solidFill>
                <a:latin typeface="Microsoft YaHei"/>
              </a:rPr>
              <a:t>胶囊</a:t>
            </a:r>
          </a:p>
        </p:txBody>
      </p:sp>
      <p:sp>
        <p:nvSpPr>
          <p:cNvPr id="15" name="Oval 14"/>
          <p:cNvSpPr/>
          <p:nvPr/>
        </p:nvSpPr>
        <p:spPr>
          <a:xfrm>
            <a:off x="6995160" y="3886200"/>
            <a:ext cx="384048" cy="384048"/>
          </a:xfrm>
          <a:prstGeom prst="ellipse">
            <a:avLst/>
          </a:prstGeom>
          <a:solidFill>
            <a:srgbClr val="47B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4032" y="3968496"/>
            <a:ext cx="146304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831335"/>
            <a:ext cx="2468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232D3A"/>
                </a:solidFill>
                <a:latin typeface="Microsoft YaHei"/>
              </a:rPr>
              <a:t>泡罩包装</a:t>
            </a:r>
          </a:p>
        </p:txBody>
      </p:sp>
      <p:sp>
        <p:nvSpPr>
          <p:cNvPr id="18" name="Oval 17"/>
          <p:cNvSpPr/>
          <p:nvPr/>
        </p:nvSpPr>
        <p:spPr>
          <a:xfrm>
            <a:off x="6995160" y="4572000"/>
            <a:ext cx="384048" cy="384048"/>
          </a:xfrm>
          <a:prstGeom prst="ellipse">
            <a:avLst/>
          </a:prstGeom>
          <a:solidFill>
            <a:srgbClr val="8B6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4032" y="4654296"/>
            <a:ext cx="146304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4517136"/>
            <a:ext cx="2468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232D3A"/>
                </a:solidFill>
                <a:latin typeface="Microsoft YaHei"/>
              </a:rPr>
              <a:t>药瓶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4800600"/>
            <a:ext cx="4160520" cy="621792"/>
          </a:xfrm>
          <a:prstGeom prst="roundRect">
            <a:avLst/>
          </a:prstGeom>
          <a:solidFill>
            <a:srgbClr val="FFE1E6"/>
          </a:solidFill>
          <a:ln w="15240">
            <a:solidFill>
              <a:srgbClr val="F16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4919472"/>
            <a:ext cx="3703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16F67"/>
                </a:solidFill>
                <a:latin typeface="Microsoft YaHei"/>
              </a:rPr>
              <a:t>⚠ 再漂亮，也不是糖果！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153912"/>
            <a:ext cx="10972800" cy="457200"/>
          </a:xfrm>
          <a:prstGeom prst="roundRect">
            <a:avLst/>
          </a:prstGeom>
          <a:solidFill>
            <a:srgbClr val="FFF9EB"/>
          </a:solidFill>
          <a:ln w="15240">
            <a:solidFill>
              <a:srgbClr val="FCC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199632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C3E5F"/>
                </a:solidFill>
                <a:latin typeface="Microsoft YaHei"/>
              </a:rPr>
              <a:t>🎤 互动：照片里你最先看到了哪一种药物形式？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57482"/>
                </a:solidFill>
                <a:latin typeface="Microsoft YaHei"/>
              </a:rPr>
              <a:t>图片：Wikimedia Commons · Pills and medicines 01.jpg · CC BY-SA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C3E5F"/>
                </a:solidFill>
                <a:latin typeface="Microsoft YaHei"/>
              </a:rPr>
              <a:t>真实世界：身体里的器官在哪里？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32688"/>
            <a:ext cx="10149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657482"/>
                </a:solidFill>
                <a:latin typeface="Microsoft YaHei"/>
              </a:rPr>
              <a:t>把“身体城市”变成一张真正的解剖图</a:t>
            </a:r>
          </a:p>
        </p:txBody>
      </p:sp>
      <p:pic>
        <p:nvPicPr>
          <p:cNvPr id="5" name="Picture 4" descr="human_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5029200" cy="4892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8" y="1207008"/>
            <a:ext cx="5084064" cy="4946903"/>
          </a:xfrm>
          <a:prstGeom prst="roundRect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26480" y="1325880"/>
            <a:ext cx="5257800" cy="4526280"/>
          </a:xfrm>
          <a:prstGeom prst="roundRect">
            <a:avLst/>
          </a:prstGeom>
          <a:solidFill>
            <a:srgbClr val="E1F2FF"/>
          </a:solidFill>
          <a:ln w="15240">
            <a:solidFill>
              <a:srgbClr val="4F9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46520" y="1783080"/>
            <a:ext cx="475488" cy="475488"/>
          </a:xfrm>
          <a:prstGeom prst="ellipse">
            <a:avLst/>
          </a:prstGeom>
          <a:solidFill>
            <a:srgbClr val="4F9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2824" y="1892807"/>
            <a:ext cx="1828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69164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4F95E6"/>
                </a:solidFill>
                <a:latin typeface="Microsoft YaHei"/>
              </a:rPr>
              <a:t>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69164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D3A"/>
                </a:solidFill>
                <a:latin typeface="Microsoft YaHei"/>
              </a:rPr>
              <a:t>帮助我们呼吸</a:t>
            </a:r>
          </a:p>
        </p:txBody>
      </p:sp>
      <p:sp>
        <p:nvSpPr>
          <p:cNvPr id="12" name="Oval 11"/>
          <p:cNvSpPr/>
          <p:nvPr/>
        </p:nvSpPr>
        <p:spPr>
          <a:xfrm>
            <a:off x="6446520" y="2651760"/>
            <a:ext cx="475488" cy="475488"/>
          </a:xfrm>
          <a:prstGeom prst="ellipse">
            <a:avLst/>
          </a:prstGeom>
          <a:solidFill>
            <a:srgbClr val="F1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2824" y="2761487"/>
            <a:ext cx="1828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56032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16F67"/>
                </a:solidFill>
                <a:latin typeface="Microsoft YaHei"/>
              </a:rPr>
              <a:t>心脏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56032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D3A"/>
                </a:solidFill>
                <a:latin typeface="Microsoft YaHei"/>
              </a:rPr>
              <a:t>把血液送到全身</a:t>
            </a:r>
          </a:p>
        </p:txBody>
      </p:sp>
      <p:sp>
        <p:nvSpPr>
          <p:cNvPr id="16" name="Oval 15"/>
          <p:cNvSpPr/>
          <p:nvPr/>
        </p:nvSpPr>
        <p:spPr>
          <a:xfrm>
            <a:off x="6446520" y="3520439"/>
            <a:ext cx="475488" cy="475488"/>
          </a:xfrm>
          <a:prstGeom prst="ellipse">
            <a:avLst/>
          </a:prstGeom>
          <a:solidFill>
            <a:srgbClr val="FCC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2824" y="3630168"/>
            <a:ext cx="1828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42900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CC949"/>
                </a:solidFill>
                <a:latin typeface="Microsoft YaHei"/>
              </a:rPr>
              <a:t>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42900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D3A"/>
                </a:solidFill>
                <a:latin typeface="Microsoft YaHei"/>
              </a:rPr>
              <a:t>开始处理食物</a:t>
            </a:r>
          </a:p>
        </p:txBody>
      </p:sp>
      <p:sp>
        <p:nvSpPr>
          <p:cNvPr id="20" name="Oval 19"/>
          <p:cNvSpPr/>
          <p:nvPr/>
        </p:nvSpPr>
        <p:spPr>
          <a:xfrm>
            <a:off x="6446520" y="4389120"/>
            <a:ext cx="475488" cy="475488"/>
          </a:xfrm>
          <a:prstGeom prst="ellipse">
            <a:avLst/>
          </a:prstGeom>
          <a:solidFill>
            <a:srgbClr val="47B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2824" y="4498848"/>
            <a:ext cx="1828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297679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47B17A"/>
                </a:solidFill>
                <a:latin typeface="Microsoft YaHei"/>
              </a:rPr>
              <a:t>肠道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297679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D3A"/>
                </a:solidFill>
                <a:latin typeface="Microsoft YaHei"/>
              </a:rPr>
              <a:t>吸收营养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6153912"/>
            <a:ext cx="10972800" cy="457200"/>
          </a:xfrm>
          <a:prstGeom prst="roundRect">
            <a:avLst/>
          </a:prstGeom>
          <a:solidFill>
            <a:srgbClr val="FFF9EB"/>
          </a:solidFill>
          <a:ln w="15240">
            <a:solidFill>
              <a:srgbClr val="FCC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199632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C3E5F"/>
                </a:solidFill>
                <a:latin typeface="Microsoft YaHei"/>
              </a:rPr>
              <a:t>🎤 互动：我说器官名字，大家在图片上找一找！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57482"/>
                </a:solidFill>
                <a:latin typeface="Microsoft YaHei"/>
              </a:rPr>
              <a:t>图片：Wikimedia Commons · Human Anatomy.png · CC0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药物小侦探：一颗药是怎样帮助身体的？</dc:title>
  <dc:subject>一年级家长进课堂科普课，30分钟</dc:subject>
  <dc:creator>ChatGPT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